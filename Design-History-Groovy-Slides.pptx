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4" d="100"/>
          <a:sy n="164" d="100"/>
        </p:scale>
        <p:origin x="56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631537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1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182880" y="-45720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0" dirty="0">
                <a:solidFill>
                  <a:srgbClr val="D4622A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☮</a:t>
            </a:r>
            <a:endParaRPr lang="en-US" sz="10000" dirty="0"/>
          </a:p>
        </p:txBody>
      </p:sp>
      <p:sp>
        <p:nvSpPr>
          <p:cNvPr id="3" name="Text 1"/>
          <p:cNvSpPr/>
          <p:nvPr/>
        </p:nvSpPr>
        <p:spPr>
          <a:xfrm>
            <a:off x="7498080" y="338328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0" dirty="0">
                <a:solidFill>
                  <a:srgbClr val="6B2D8B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✿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dirty="0">
                <a:solidFill>
                  <a:srgbClr val="D4622A"/>
                </a:solidFill>
                <a:latin typeface="AHJ BATAVIA" panose="02000503000000000000" pitchFamily="2" charset="77"/>
                <a:ea typeface="Righteous" pitchFamily="34" charset="-122"/>
                <a:cs typeface="Righteous" pitchFamily="34" charset="-120"/>
              </a:rPr>
              <a:t>GRAPHIC DESIGN AS</a:t>
            </a:r>
            <a:endParaRPr lang="en-US" sz="5000" dirty="0">
              <a:latin typeface="AHJ BATAVIA" panose="02000503000000000000" pitchFamily="2" charset="77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dirty="0">
                <a:solidFill>
                  <a:srgbClr val="FBF0D8"/>
                </a:solidFill>
                <a:latin typeface="Righteous" pitchFamily="34" charset="0"/>
                <a:ea typeface="Righteous" pitchFamily="34" charset="-122"/>
                <a:cs typeface="Righteous" pitchFamily="34" charset="-120"/>
              </a:rPr>
              <a:t>CONNECTIVE TISSUE</a:t>
            </a:r>
            <a:endParaRPr lang="en-US" sz="5000" dirty="0"/>
          </a:p>
        </p:txBody>
      </p:sp>
      <p:sp>
        <p:nvSpPr>
          <p:cNvPr id="6" name="Shape 4"/>
          <p:cNvSpPr/>
          <p:nvPr/>
        </p:nvSpPr>
        <p:spPr>
          <a:xfrm>
            <a:off x="1371600" y="2468880"/>
            <a:ext cx="6400800" cy="0"/>
          </a:xfrm>
          <a:prstGeom prst="line">
            <a:avLst/>
          </a:prstGeom>
          <a:noFill/>
          <a:ln w="25400">
            <a:solidFill>
              <a:srgbClr val="E9C4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2542032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kern="0" spc="200" dirty="0">
                <a:solidFill>
                  <a:srgbClr val="F4A261"/>
                </a:solidFill>
                <a:latin typeface="Righteous" pitchFamily="34" charset="0"/>
                <a:ea typeface="Righteous" pitchFamily="34" charset="-122"/>
                <a:cs typeface="Righteous" pitchFamily="34" charset="-120"/>
              </a:rPr>
              <a:t>Music  ·  Fashion  ·  Protest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2944368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E9C46A"/>
                </a:solidFill>
                <a:latin typeface="Righteous" pitchFamily="34" charset="0"/>
                <a:ea typeface="Righteous" pitchFamily="34" charset="-122"/>
                <a:cs typeface="Righteous" pitchFamily="34" charset="-120"/>
              </a:rPr>
              <a:t>1960 – 1979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472184" y="3493008"/>
            <a:ext cx="1920240" cy="338328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417320" y="3438144"/>
            <a:ext cx="1920240" cy="338328"/>
          </a:xfrm>
          <a:prstGeom prst="rect">
            <a:avLst/>
          </a:prstGeom>
          <a:solidFill>
            <a:srgbClr val="D4622A"/>
          </a:solidFill>
          <a:ln w="19050">
            <a:solidFill>
              <a:srgbClr val="FBF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417320" y="3438144"/>
            <a:ext cx="19202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FFFFFF"/>
                </a:solidFill>
                <a:latin typeface="Righteous" pitchFamily="34" charset="0"/>
                <a:ea typeface="Righteous" pitchFamily="34" charset="-122"/>
                <a:cs typeface="Righteous" pitchFamily="34" charset="-120"/>
              </a:rPr>
              <a:t>UNITED STATES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483864" y="3493008"/>
            <a:ext cx="1920240" cy="338328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429000" y="3438144"/>
            <a:ext cx="1920240" cy="338328"/>
          </a:xfrm>
          <a:prstGeom prst="rect">
            <a:avLst/>
          </a:prstGeom>
          <a:solidFill>
            <a:srgbClr val="6B2D8B"/>
          </a:solidFill>
          <a:ln w="19050">
            <a:solidFill>
              <a:srgbClr val="FBF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429000" y="3438144"/>
            <a:ext cx="19202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FFFFFF"/>
                </a:solidFill>
                <a:latin typeface="Righteous" pitchFamily="34" charset="0"/>
                <a:ea typeface="Righteous" pitchFamily="34" charset="-122"/>
                <a:cs typeface="Righteous" pitchFamily="34" charset="-120"/>
              </a:rPr>
              <a:t>UNITED KINGDOM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586984" y="3493008"/>
            <a:ext cx="1920240" cy="338328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532120" y="3438144"/>
            <a:ext cx="1920240" cy="338328"/>
          </a:xfrm>
          <a:prstGeom prst="rect">
            <a:avLst/>
          </a:prstGeom>
          <a:solidFill>
            <a:srgbClr val="0A8B8E"/>
          </a:solidFill>
          <a:ln w="19050">
            <a:solidFill>
              <a:srgbClr val="FBF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532120" y="3438144"/>
            <a:ext cx="19202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FFFFFF"/>
                </a:solidFill>
                <a:latin typeface="Righteous" pitchFamily="34" charset="0"/>
                <a:ea typeface="Righteous" pitchFamily="34" charset="-122"/>
                <a:cs typeface="Righteous" pitchFamily="34" charset="-120"/>
              </a:rPr>
              <a:t>JAPAN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391363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FBF0D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Three pillars. Three countries. One connective thread.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43525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kern="0" spc="1000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✿  ☮  ✌  ✿  ☮  ✌  ✿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473659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kern="0" spc="200" dirty="0">
                <a:solidFill>
                  <a:srgbClr val="6B422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AVC 182  ·  Design History Project  ·  Devon Adams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0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28016"/>
            <a:ext cx="8503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300" dirty="0">
                <a:solidFill>
                  <a:srgbClr val="D4622A"/>
                </a:solidFill>
                <a:latin typeface="Righteous" pitchFamily="34" charset="0"/>
                <a:ea typeface="Righteous" pitchFamily="34" charset="-122"/>
                <a:cs typeface="Righteous" pitchFamily="34" charset="-120"/>
              </a:rPr>
              <a:t>✦  THE ARGUMENT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20040" y="38404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2C1A0E"/>
                </a:solidFill>
                <a:latin typeface="Righteous" pitchFamily="34" charset="0"/>
                <a:ea typeface="Righteous" pitchFamily="34" charset="-122"/>
                <a:cs typeface="Righteous" pitchFamily="34" charset="-120"/>
              </a:rPr>
              <a:t>Design was the signal. It told you which side you were on.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93192" y="1097280"/>
            <a:ext cx="8503920" cy="987552"/>
          </a:xfrm>
          <a:prstGeom prst="rect">
            <a:avLst/>
          </a:prstGeom>
          <a:solidFill>
            <a:srgbClr val="2C1A0E"/>
          </a:solidFill>
          <a:ln w="12700">
            <a:solidFill>
              <a:srgbClr val="2C1A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8503920" cy="987552"/>
          </a:xfrm>
          <a:prstGeom prst="rect">
            <a:avLst/>
          </a:prstGeom>
          <a:solidFill>
            <a:srgbClr val="FFFFFF"/>
          </a:solidFill>
          <a:ln w="31750">
            <a:solidFill>
              <a:srgbClr val="2C1A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069848"/>
            <a:ext cx="8138160" cy="896112"/>
          </a:xfrm>
          <a:prstGeom prst="rect">
            <a:avLst/>
          </a:prstGeom>
          <a:noFill/>
          <a:ln/>
        </p:spPr>
        <p:txBody>
          <a:bodyPr wrap="square" lIns="50800" tIns="152400" rIns="152400" bIns="50800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2C1A0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"Design was not decoration. In this era it was the signal — it told you which side you were on before you said a single word."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93192" y="2176272"/>
            <a:ext cx="2715768" cy="2743200"/>
          </a:xfrm>
          <a:prstGeom prst="rect">
            <a:avLst/>
          </a:prstGeom>
          <a:solidFill>
            <a:srgbClr val="2C1A0E"/>
          </a:solidFill>
          <a:ln w="12700">
            <a:solidFill>
              <a:srgbClr val="2C1A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20040" y="2103120"/>
            <a:ext cx="2715768" cy="2743200"/>
          </a:xfrm>
          <a:prstGeom prst="rect">
            <a:avLst/>
          </a:prstGeom>
          <a:solidFill>
            <a:srgbClr val="FFFFFF"/>
          </a:solidFill>
          <a:ln w="31750">
            <a:solidFill>
              <a:srgbClr val="2C1A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0040" y="2103120"/>
            <a:ext cx="2715768" cy="347472"/>
          </a:xfrm>
          <a:prstGeom prst="rect">
            <a:avLst/>
          </a:prstGeom>
          <a:solidFill>
            <a:srgbClr val="D4622A"/>
          </a:solidFill>
          <a:ln w="12700">
            <a:solidFill>
              <a:srgbClr val="2C1A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0040" y="2103120"/>
            <a:ext cx="2715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50" dirty="0">
                <a:solidFill>
                  <a:srgbClr val="FFFFFF"/>
                </a:solidFill>
                <a:latin typeface="Righteous" pitchFamily="34" charset="0"/>
                <a:ea typeface="Righteous" pitchFamily="34" charset="-122"/>
                <a:cs typeface="Righteous" pitchFamily="34" charset="-120"/>
              </a:rPr>
              <a:t>MUSIC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11480" y="2487168"/>
            <a:ext cx="2551176" cy="2286000"/>
          </a:xfrm>
          <a:prstGeom prst="rect">
            <a:avLst/>
          </a:prstGeom>
          <a:noFill/>
          <a:ln/>
        </p:spPr>
        <p:txBody>
          <a:bodyPr wrap="square" lIns="63500" tIns="101600" rIns="101600" bIns="6350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2C1A0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Concert posters, album covers, and photography constructed the mythology of each movement. Silkscreen was the technology. Marshall and Bailey gave movements their faces.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91840" y="2176272"/>
            <a:ext cx="2715768" cy="2743200"/>
          </a:xfrm>
          <a:prstGeom prst="rect">
            <a:avLst/>
          </a:prstGeom>
          <a:solidFill>
            <a:srgbClr val="2C1A0E"/>
          </a:solidFill>
          <a:ln w="12700">
            <a:solidFill>
              <a:srgbClr val="2C1A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18688" y="2103120"/>
            <a:ext cx="2715768" cy="2743200"/>
          </a:xfrm>
          <a:prstGeom prst="rect">
            <a:avLst/>
          </a:prstGeom>
          <a:solidFill>
            <a:srgbClr val="FFFFFF"/>
          </a:solidFill>
          <a:ln w="31750">
            <a:solidFill>
              <a:srgbClr val="2C1A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218688" y="2103120"/>
            <a:ext cx="2715768" cy="347472"/>
          </a:xfrm>
          <a:prstGeom prst="rect">
            <a:avLst/>
          </a:prstGeom>
          <a:solidFill>
            <a:srgbClr val="6B2D8B"/>
          </a:solidFill>
          <a:ln w="12700">
            <a:solidFill>
              <a:srgbClr val="2C1A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218688" y="2103120"/>
            <a:ext cx="2715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50" dirty="0">
                <a:solidFill>
                  <a:srgbClr val="FFFFFF"/>
                </a:solidFill>
                <a:latin typeface="Righteous" pitchFamily="34" charset="0"/>
                <a:ea typeface="Righteous" pitchFamily="34" charset="-122"/>
                <a:cs typeface="Righteous" pitchFamily="34" charset="-120"/>
              </a:rPr>
              <a:t>FASHION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310128" y="2487168"/>
            <a:ext cx="2551176" cy="2286000"/>
          </a:xfrm>
          <a:prstGeom prst="rect">
            <a:avLst/>
          </a:prstGeom>
          <a:noFill/>
          <a:ln/>
        </p:spPr>
        <p:txBody>
          <a:bodyPr wrap="square" lIns="63500" tIns="101600" rIns="101600" bIns="6350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2C1A0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Clothing became a designed visual system. What you wore stated which side you were on before you spoke — from Bailey/Shrimpton mod to Westwood punk.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190488" y="2176272"/>
            <a:ext cx="2715768" cy="2743200"/>
          </a:xfrm>
          <a:prstGeom prst="rect">
            <a:avLst/>
          </a:prstGeom>
          <a:solidFill>
            <a:srgbClr val="2C1A0E"/>
          </a:solidFill>
          <a:ln w="12700">
            <a:solidFill>
              <a:srgbClr val="2C1A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117336" y="2103120"/>
            <a:ext cx="2715768" cy="2743200"/>
          </a:xfrm>
          <a:prstGeom prst="rect">
            <a:avLst/>
          </a:prstGeom>
          <a:solidFill>
            <a:srgbClr val="FFFFFF"/>
          </a:solidFill>
          <a:ln w="31750">
            <a:solidFill>
              <a:srgbClr val="2C1A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117336" y="2103120"/>
            <a:ext cx="2715768" cy="347472"/>
          </a:xfrm>
          <a:prstGeom prst="rect">
            <a:avLst/>
          </a:prstGeom>
          <a:solidFill>
            <a:srgbClr val="0A8B8E"/>
          </a:solidFill>
          <a:ln w="12700">
            <a:solidFill>
              <a:srgbClr val="2C1A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117336" y="2103120"/>
            <a:ext cx="2715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50" dirty="0">
                <a:solidFill>
                  <a:srgbClr val="FFFFFF"/>
                </a:solidFill>
                <a:latin typeface="Righteous" pitchFamily="34" charset="0"/>
                <a:ea typeface="Righteous" pitchFamily="34" charset="-122"/>
                <a:cs typeface="Righteous" pitchFamily="34" charset="-120"/>
              </a:rPr>
              <a:t>PROTEST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208776" y="2487168"/>
            <a:ext cx="2551176" cy="2286000"/>
          </a:xfrm>
          <a:prstGeom prst="rect">
            <a:avLst/>
          </a:prstGeom>
          <a:noFill/>
          <a:ln/>
        </p:spPr>
        <p:txBody>
          <a:bodyPr wrap="square" lIns="63500" tIns="101600" rIns="101600" bIns="6350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2C1A0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Graphic design gave urgency a reproducible form. Same technology, same urgency — completely different visual outcomes across US, UK, and Japan.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0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28016"/>
            <a:ext cx="8503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300" dirty="0">
                <a:solidFill>
                  <a:srgbClr val="D4622A"/>
                </a:solidFill>
                <a:latin typeface="Righteous" pitchFamily="34" charset="0"/>
                <a:ea typeface="Righteous" pitchFamily="34" charset="-122"/>
                <a:cs typeface="Righteous" pitchFamily="34" charset="-120"/>
              </a:rPr>
              <a:t>✦  THE CONNECTIVE THREAD  ·  SPREADS 2-3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20040" y="384048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dirty="0">
                <a:solidFill>
                  <a:srgbClr val="2C1A0E"/>
                </a:solidFill>
                <a:latin typeface="Righteous" pitchFamily="34" charset="0"/>
                <a:ea typeface="Righteous" pitchFamily="34" charset="-122"/>
                <a:cs typeface="Righteous" pitchFamily="34" charset="-120"/>
              </a:rPr>
              <a:t>The Silkscreen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20040" y="914400"/>
            <a:ext cx="8503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6B422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One printing process. Three countries. Three different revolutions. Cheap. Fast. Democratic.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93192" y="1399032"/>
            <a:ext cx="2715768" cy="3611880"/>
          </a:xfrm>
          <a:prstGeom prst="rect">
            <a:avLst/>
          </a:prstGeom>
          <a:solidFill>
            <a:srgbClr val="2C1A0E"/>
          </a:solidFill>
          <a:ln w="12700">
            <a:solidFill>
              <a:srgbClr val="2C1A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325880"/>
            <a:ext cx="2715768" cy="3611880"/>
          </a:xfrm>
          <a:prstGeom prst="rect">
            <a:avLst/>
          </a:prstGeom>
          <a:solidFill>
            <a:srgbClr val="FFFFFF"/>
          </a:solidFill>
          <a:ln w="31750">
            <a:solidFill>
              <a:srgbClr val="2C1A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1325880"/>
            <a:ext cx="2715768" cy="347472"/>
          </a:xfrm>
          <a:prstGeom prst="rect">
            <a:avLst/>
          </a:prstGeom>
          <a:solidFill>
            <a:srgbClr val="D4622A"/>
          </a:solidFill>
          <a:ln w="12700">
            <a:solidFill>
              <a:srgbClr val="2C1A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0040" y="1325880"/>
            <a:ext cx="2715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50" dirty="0">
                <a:solidFill>
                  <a:srgbClr val="FFFFFF"/>
                </a:solidFill>
                <a:latin typeface="Righteous" pitchFamily="34" charset="0"/>
                <a:ea typeface="Righteous" pitchFamily="34" charset="-122"/>
                <a:cs typeface="Righteous" pitchFamily="34" charset="-120"/>
              </a:rPr>
              <a:t>UNITED STATES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11480" y="1709928"/>
            <a:ext cx="2551176" cy="3154680"/>
          </a:xfrm>
          <a:prstGeom prst="rect">
            <a:avLst/>
          </a:prstGeom>
          <a:noFill/>
          <a:ln/>
        </p:spPr>
        <p:txBody>
          <a:bodyPr wrap="square" lIns="63500" tIns="101600" rIns="101600" bIns="6350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C1A0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Fillmore Auditorium concert posters — Wilson, Moscoso, Griffin, Mouse &amp; Kelley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C1A0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Civil rights movement print workshops — SNCC, SCLC, university art departments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C1A0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Vietnam anti-war posters — Corita Kent "Stop the Bombing" (1967)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C1A0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Black Power movement pamphlets and printed materials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91840" y="1399032"/>
            <a:ext cx="2715768" cy="3611880"/>
          </a:xfrm>
          <a:prstGeom prst="rect">
            <a:avLst/>
          </a:prstGeom>
          <a:solidFill>
            <a:srgbClr val="2C1A0E"/>
          </a:solidFill>
          <a:ln w="12700">
            <a:solidFill>
              <a:srgbClr val="2C1A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18688" y="1325880"/>
            <a:ext cx="2715768" cy="3611880"/>
          </a:xfrm>
          <a:prstGeom prst="rect">
            <a:avLst/>
          </a:prstGeom>
          <a:solidFill>
            <a:srgbClr val="FFFFFF"/>
          </a:solidFill>
          <a:ln w="31750">
            <a:solidFill>
              <a:srgbClr val="2C1A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18688" y="1325880"/>
            <a:ext cx="2715768" cy="347472"/>
          </a:xfrm>
          <a:prstGeom prst="rect">
            <a:avLst/>
          </a:prstGeom>
          <a:solidFill>
            <a:srgbClr val="6B2D8B"/>
          </a:solidFill>
          <a:ln w="12700">
            <a:solidFill>
              <a:srgbClr val="2C1A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18688" y="1325880"/>
            <a:ext cx="2715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50" dirty="0">
                <a:solidFill>
                  <a:srgbClr val="FFFFFF"/>
                </a:solidFill>
                <a:latin typeface="Righteous" pitchFamily="34" charset="0"/>
                <a:ea typeface="Righteous" pitchFamily="34" charset="-122"/>
                <a:cs typeface="Righteous" pitchFamily="34" charset="-120"/>
              </a:rPr>
              <a:t>UNITED KINGDOM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310128" y="1709928"/>
            <a:ext cx="2551176" cy="3154680"/>
          </a:xfrm>
          <a:prstGeom prst="rect">
            <a:avLst/>
          </a:prstGeom>
          <a:noFill/>
          <a:ln/>
        </p:spPr>
        <p:txBody>
          <a:bodyPr wrap="square" lIns="63500" tIns="101600" rIns="101600" bIns="6350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C1A0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Seditionaries / SEX boutique screen-printed T-shirts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C1A0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Punk fanzines and gig handbills — DIY, photocopied, immediate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C1A0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CND Aldermaston march placards (1958) — Holtom's peace symbol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C1A0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Jamie Reid's Sex Pistols graphics — ransom-note cut-and-paste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90488" y="1399032"/>
            <a:ext cx="2715768" cy="3611880"/>
          </a:xfrm>
          <a:prstGeom prst="rect">
            <a:avLst/>
          </a:prstGeom>
          <a:solidFill>
            <a:srgbClr val="2C1A0E"/>
          </a:solidFill>
          <a:ln w="12700">
            <a:solidFill>
              <a:srgbClr val="2C1A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117336" y="1325880"/>
            <a:ext cx="2715768" cy="3611880"/>
          </a:xfrm>
          <a:prstGeom prst="rect">
            <a:avLst/>
          </a:prstGeom>
          <a:solidFill>
            <a:srgbClr val="FFFFFF"/>
          </a:solidFill>
          <a:ln w="31750">
            <a:solidFill>
              <a:srgbClr val="2C1A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117336" y="1325880"/>
            <a:ext cx="2715768" cy="347472"/>
          </a:xfrm>
          <a:prstGeom prst="rect">
            <a:avLst/>
          </a:prstGeom>
          <a:solidFill>
            <a:srgbClr val="0A8B8E"/>
          </a:solidFill>
          <a:ln w="12700">
            <a:solidFill>
              <a:srgbClr val="2C1A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117336" y="1325880"/>
            <a:ext cx="2715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50" dirty="0">
                <a:solidFill>
                  <a:srgbClr val="FFFFFF"/>
                </a:solidFill>
                <a:latin typeface="Righteous" pitchFamily="34" charset="0"/>
                <a:ea typeface="Righteous" pitchFamily="34" charset="-122"/>
                <a:cs typeface="Righteous" pitchFamily="34" charset="-120"/>
              </a:rPr>
              <a:t>JAPAN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208776" y="1709928"/>
            <a:ext cx="2551176" cy="3154680"/>
          </a:xfrm>
          <a:prstGeom prst="rect">
            <a:avLst/>
          </a:prstGeom>
          <a:noFill/>
          <a:ln/>
        </p:spPr>
        <p:txBody>
          <a:bodyPr wrap="square" lIns="63500" tIns="101600" rIns="101600" bIns="6350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C1A0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Zengakuren activist pamphlets and protest flyers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C1A0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Avant-garde theater posters at Sogetsu Art Center (Yokoo)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C1A0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Student movement faction banners — calligraphic brush tradition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C1A0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Tadanori Yokoo silkscreen works — shown at MoMA (1968)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0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28016"/>
            <a:ext cx="8503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300" dirty="0">
                <a:solidFill>
                  <a:srgbClr val="D4622A"/>
                </a:solidFill>
                <a:latin typeface="Righteous" pitchFamily="34" charset="0"/>
                <a:ea typeface="Righteous" pitchFamily="34" charset="-122"/>
                <a:cs typeface="Righteous" pitchFamily="34" charset="-120"/>
              </a:rPr>
              <a:t>✦  THE CONNECTIVE THREAD  ·  PHOTOGRAPHY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20040" y="38404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2C1A0E"/>
                </a:solidFill>
                <a:latin typeface="Righteous" pitchFamily="34" charset="0"/>
                <a:ea typeface="Righteous" pitchFamily="34" charset="-122"/>
                <a:cs typeface="Righteous" pitchFamily="34" charset="-120"/>
              </a:rPr>
              <a:t>Two Photographers · One Philosophy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100584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6B422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Same core belief, different countries: photograph your subject as an agent, not an object. Give them power.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93192" y="1499616"/>
            <a:ext cx="4133088" cy="3511296"/>
          </a:xfrm>
          <a:prstGeom prst="rect">
            <a:avLst/>
          </a:prstGeom>
          <a:solidFill>
            <a:srgbClr val="2C1A0E"/>
          </a:solidFill>
          <a:ln w="12700">
            <a:solidFill>
              <a:srgbClr val="2C1A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426464"/>
            <a:ext cx="4133088" cy="3511296"/>
          </a:xfrm>
          <a:prstGeom prst="rect">
            <a:avLst/>
          </a:prstGeom>
          <a:solidFill>
            <a:srgbClr val="FFFFFF"/>
          </a:solidFill>
          <a:ln w="31750">
            <a:solidFill>
              <a:srgbClr val="2C1A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1426464"/>
            <a:ext cx="4133088" cy="347472"/>
          </a:xfrm>
          <a:prstGeom prst="rect">
            <a:avLst/>
          </a:prstGeom>
          <a:solidFill>
            <a:srgbClr val="6B2D8B"/>
          </a:solidFill>
          <a:ln w="12700">
            <a:solidFill>
              <a:srgbClr val="2C1A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0040" y="1426464"/>
            <a:ext cx="4133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50" dirty="0">
                <a:solidFill>
                  <a:srgbClr val="FFFFFF"/>
                </a:solidFill>
                <a:latin typeface="Righteous" pitchFamily="34" charset="0"/>
                <a:ea typeface="Righteous" pitchFamily="34" charset="-122"/>
                <a:cs typeface="Righteous" pitchFamily="34" charset="-120"/>
              </a:rPr>
              <a:t>DAVID BAILEY  ·  UK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11480" y="1810512"/>
            <a:ext cx="3968496" cy="3054096"/>
          </a:xfrm>
          <a:prstGeom prst="rect">
            <a:avLst/>
          </a:prstGeom>
          <a:noFill/>
          <a:ln/>
        </p:spPr>
        <p:txBody>
          <a:bodyPr wrap="square" lIns="63500" tIns="101600" rIns="101600" bIns="6350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C1A0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Co-created the mod movement with Jean Shrimpton — did not merely document it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C1A0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"Young Idea" NYC shoot (1962) — reinvented fashion photography: moving, natural, direct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C1A0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Box of Pin-Ups (1965): 36 portraits dissolving class hierarchy — rock star, gangster, painter as equals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C1A0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Built the visual grammar of confrontation and refusal of deference in the early 1960s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C1A0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That grammar passed directly to Jamie Reid's punk design in 1976 — same refusal, different decade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54880" y="1499616"/>
            <a:ext cx="4133088" cy="3511296"/>
          </a:xfrm>
          <a:prstGeom prst="rect">
            <a:avLst/>
          </a:prstGeom>
          <a:solidFill>
            <a:srgbClr val="2C1A0E"/>
          </a:solidFill>
          <a:ln w="12700">
            <a:solidFill>
              <a:srgbClr val="2C1A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681728" y="1426464"/>
            <a:ext cx="4133088" cy="3511296"/>
          </a:xfrm>
          <a:prstGeom prst="rect">
            <a:avLst/>
          </a:prstGeom>
          <a:solidFill>
            <a:srgbClr val="FFFFFF"/>
          </a:solidFill>
          <a:ln w="31750">
            <a:solidFill>
              <a:srgbClr val="2C1A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681728" y="1426464"/>
            <a:ext cx="4133088" cy="347472"/>
          </a:xfrm>
          <a:prstGeom prst="rect">
            <a:avLst/>
          </a:prstGeom>
          <a:solidFill>
            <a:srgbClr val="D4622A"/>
          </a:solidFill>
          <a:ln w="12700">
            <a:solidFill>
              <a:srgbClr val="2C1A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681728" y="1426464"/>
            <a:ext cx="4133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50" dirty="0">
                <a:solidFill>
                  <a:srgbClr val="FFFFFF"/>
                </a:solidFill>
                <a:latin typeface="Righteous" pitchFamily="34" charset="0"/>
                <a:ea typeface="Righteous" pitchFamily="34" charset="-122"/>
                <a:cs typeface="Righteous" pitchFamily="34" charset="-120"/>
              </a:rPr>
              <a:t>JIM MARSHALL  ·  US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773168" y="1810512"/>
            <a:ext cx="3968496" cy="3054096"/>
          </a:xfrm>
          <a:prstGeom prst="rect">
            <a:avLst/>
          </a:prstGeom>
          <a:noFill/>
          <a:ln/>
        </p:spPr>
        <p:txBody>
          <a:bodyPr wrap="square" lIns="63500" tIns="101600" rIns="101600" bIns="6350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C1A0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Exclusive access to Fillmore West, Monterey Pop Festival (1967), Woodstock (1969)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C1A0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Only photographer given a lifetime pass to every Bill Graham-promoted concert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C1A0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Hendrix burning guitar (Monterey 1967) — did not document. Created the meaning.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C1A0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Poster artists made the promise. Marshall made the mythology. Opposite ends of the same timeline.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C1A0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Parallel to Bailey: subjects as agents — Janis Joplin, Johnny Cash, Grateful Dead, Jefferson Airplane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0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D4622A"/>
          </a:solidFill>
          <a:ln w="12700">
            <a:solidFill>
              <a:srgbClr val="D46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47472" y="128016"/>
            <a:ext cx="8503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300" dirty="0">
                <a:solidFill>
                  <a:srgbClr val="D4622A"/>
                </a:solidFill>
                <a:latin typeface="Righteous" pitchFamily="34" charset="0"/>
                <a:ea typeface="Righteous" pitchFamily="34" charset="-122"/>
                <a:cs typeface="Righteous" pitchFamily="34" charset="-120"/>
              </a:rPr>
              <a:t>MUSIC  ·  UNITED STATES  ·  SPREAD 4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47472" y="384048"/>
            <a:ext cx="84764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2C1A0E"/>
                </a:solidFill>
                <a:latin typeface="Righteous" pitchFamily="34" charset="0"/>
                <a:ea typeface="Righteous" pitchFamily="34" charset="-122"/>
                <a:cs typeface="Righteous" pitchFamily="34" charset="-120"/>
              </a:rPr>
              <a:t>The Fillmore Big Five + Jim Marshall: Promise and Mythology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20624" y="1097280"/>
            <a:ext cx="4123944" cy="3913632"/>
          </a:xfrm>
          <a:prstGeom prst="rect">
            <a:avLst/>
          </a:prstGeom>
          <a:solidFill>
            <a:srgbClr val="2C1A0E"/>
          </a:solidFill>
          <a:ln w="12700">
            <a:solidFill>
              <a:srgbClr val="2C1A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47472" y="1024128"/>
            <a:ext cx="4123944" cy="3913632"/>
          </a:xfrm>
          <a:prstGeom prst="rect">
            <a:avLst/>
          </a:prstGeom>
          <a:solidFill>
            <a:srgbClr val="FFFFFF"/>
          </a:solidFill>
          <a:ln w="31750">
            <a:solidFill>
              <a:srgbClr val="2C1A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47472" y="1024128"/>
            <a:ext cx="4123944" cy="347472"/>
          </a:xfrm>
          <a:prstGeom prst="rect">
            <a:avLst/>
          </a:prstGeom>
          <a:solidFill>
            <a:srgbClr val="D4622A"/>
          </a:solidFill>
          <a:ln w="12700">
            <a:solidFill>
              <a:srgbClr val="2C1A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47472" y="1024128"/>
            <a:ext cx="4123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50" dirty="0">
                <a:solidFill>
                  <a:srgbClr val="FFFFFF"/>
                </a:solidFill>
                <a:latin typeface="Righteous" pitchFamily="34" charset="0"/>
                <a:ea typeface="Righteous" pitchFamily="34" charset="-122"/>
                <a:cs typeface="Righteous" pitchFamily="34" charset="-120"/>
              </a:rPr>
              <a:t>THE FILLMORE BIG FIVE  ·  1966-1972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38912" y="1426464"/>
            <a:ext cx="3959352" cy="3456432"/>
          </a:xfrm>
          <a:prstGeom prst="rect">
            <a:avLst/>
          </a:prstGeom>
          <a:noFill/>
          <a:ln/>
        </p:spPr>
        <p:txBody>
          <a:bodyPr wrap="square" lIns="63500" tIns="101600" rIns="101600" bIns="6350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C1A0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Wes Wilson — melting, breathing letterforms; 56 Fillmore posters 1966-67; Viennese Secessionist roots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C1A0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Victor Moscoso — vibrating complementary colors; trained under Josef Albers at Yale; "Chambers Brothers" (1967)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C1A0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Rick Griffin — cosmic illustration, surf culture roots; Aoxomoxoa palindrome poster (1969)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C1A0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Stanley Mouse + Alton Kelley — skull-and-roses; adapted Fitzgerald/Khayyam illustration (1913); Grateful Dead visual DNA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C1A0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Wilson and Moscoso both cited Japanese woodblock printing (ukiyo-e) as direct influence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73168" y="1097280"/>
            <a:ext cx="4123944" cy="3913632"/>
          </a:xfrm>
          <a:prstGeom prst="rect">
            <a:avLst/>
          </a:prstGeom>
          <a:solidFill>
            <a:srgbClr val="2C1A0E"/>
          </a:solidFill>
          <a:ln w="12700">
            <a:solidFill>
              <a:srgbClr val="2C1A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00016" y="1024128"/>
            <a:ext cx="4123944" cy="3913632"/>
          </a:xfrm>
          <a:prstGeom prst="rect">
            <a:avLst/>
          </a:prstGeom>
          <a:solidFill>
            <a:srgbClr val="FFFFFF"/>
          </a:solidFill>
          <a:ln w="31750">
            <a:solidFill>
              <a:srgbClr val="2C1A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700016" y="1024128"/>
            <a:ext cx="4123944" cy="347472"/>
          </a:xfrm>
          <a:prstGeom prst="rect">
            <a:avLst/>
          </a:prstGeom>
          <a:solidFill>
            <a:srgbClr val="D4622A"/>
          </a:solidFill>
          <a:ln w="12700">
            <a:solidFill>
              <a:srgbClr val="2C1A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00016" y="1024128"/>
            <a:ext cx="4123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50" dirty="0">
                <a:solidFill>
                  <a:srgbClr val="FFFFFF"/>
                </a:solidFill>
                <a:latin typeface="Righteous" pitchFamily="34" charset="0"/>
                <a:ea typeface="Righteous" pitchFamily="34" charset="-122"/>
                <a:cs typeface="Righteous" pitchFamily="34" charset="-120"/>
              </a:rPr>
              <a:t>JIM MARSHALL  ·  THE MYTH-MAKER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791456" y="1426464"/>
            <a:ext cx="3959352" cy="3456432"/>
          </a:xfrm>
          <a:prstGeom prst="rect">
            <a:avLst/>
          </a:prstGeom>
          <a:noFill/>
          <a:ln/>
        </p:spPr>
        <p:txBody>
          <a:bodyPr wrap="square" lIns="63500" tIns="101600" rIns="101600" bIns="6350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C1A0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Fillmore West and Avalon Ballroom — full access, lifetime pass from Bill Graham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C1A0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Monterey Pop Festival (June 1967) — Hendrix burning guitar = mythology created in real time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C1A0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Woodstock (1969): Janis Joplin, Grateful Dead, Jefferson Airplane — the visual archive of an era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C1A0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Johnny Cash at San Quentin (1969) — the middle finger photograph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C1A0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Poster artists = the PROMISE of an event. Marshall = the MYTHOLOGY.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0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6B2D8B"/>
          </a:solidFill>
          <a:ln w="12700">
            <a:solidFill>
              <a:srgbClr val="6B2D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47472" y="128016"/>
            <a:ext cx="8503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300" dirty="0">
                <a:solidFill>
                  <a:srgbClr val="6B2D8B"/>
                </a:solidFill>
                <a:latin typeface="Righteous" pitchFamily="34" charset="0"/>
                <a:ea typeface="Righteous" pitchFamily="34" charset="-122"/>
                <a:cs typeface="Righteous" pitchFamily="34" charset="-120"/>
              </a:rPr>
              <a:t>MUSIC  ·  UNITED KINGDOM  ·  SPREAD 5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47472" y="384048"/>
            <a:ext cx="84764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2C1A0E"/>
                </a:solidFill>
                <a:latin typeface="Righteous" pitchFamily="34" charset="0"/>
                <a:ea typeface="Righteous" pitchFamily="34" charset="-122"/>
                <a:cs typeface="Righteous" pitchFamily="34" charset="-120"/>
              </a:rPr>
              <a:t>Hipgnosis + Peter Blake: Album Cover as Art Object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20624" y="1097280"/>
            <a:ext cx="4123944" cy="3913632"/>
          </a:xfrm>
          <a:prstGeom prst="rect">
            <a:avLst/>
          </a:prstGeom>
          <a:solidFill>
            <a:srgbClr val="2C1A0E"/>
          </a:solidFill>
          <a:ln w="12700">
            <a:solidFill>
              <a:srgbClr val="2C1A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47472" y="1024128"/>
            <a:ext cx="4123944" cy="3913632"/>
          </a:xfrm>
          <a:prstGeom prst="rect">
            <a:avLst/>
          </a:prstGeom>
          <a:solidFill>
            <a:srgbClr val="FFFFFF"/>
          </a:solidFill>
          <a:ln w="31750">
            <a:solidFill>
              <a:srgbClr val="2C1A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47472" y="1024128"/>
            <a:ext cx="4123944" cy="347472"/>
          </a:xfrm>
          <a:prstGeom prst="rect">
            <a:avLst/>
          </a:prstGeom>
          <a:solidFill>
            <a:srgbClr val="6B2D8B"/>
          </a:solidFill>
          <a:ln w="12700">
            <a:solidFill>
              <a:srgbClr val="2C1A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47472" y="1024128"/>
            <a:ext cx="4123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50" dirty="0">
                <a:solidFill>
                  <a:srgbClr val="FFFFFF"/>
                </a:solidFill>
                <a:latin typeface="Righteous" pitchFamily="34" charset="0"/>
                <a:ea typeface="Righteous" pitchFamily="34" charset="-122"/>
                <a:cs typeface="Righteous" pitchFamily="34" charset="-120"/>
              </a:rPr>
              <a:t>HIPGNOSIS  ·  Storm Thorgerson + Aubrey Powell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38912" y="1426464"/>
            <a:ext cx="3959352" cy="3456432"/>
          </a:xfrm>
          <a:prstGeom prst="rect">
            <a:avLst/>
          </a:prstGeom>
          <a:noFill/>
          <a:ln/>
        </p:spPr>
        <p:txBody>
          <a:bodyPr wrap="square" lIns="63500" tIns="101600" rIns="101600" bIns="6350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C1A0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Pink Floyd: Wish You Were Here, The Wall — concept-driven image as the argument, not the decoration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C1A0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Led Zeppelin: Houses of the Holy, Physical Graffiti — surreal, cinematic scale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C1A0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No band logo on cover — the image makes the argument without text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C1A0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What the Americans invented in silkscreen, the British amplified on vinyl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C1A0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Design language crossing the Atlantic — same visual conversation, different material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73168" y="1097280"/>
            <a:ext cx="4123944" cy="3913632"/>
          </a:xfrm>
          <a:prstGeom prst="rect">
            <a:avLst/>
          </a:prstGeom>
          <a:solidFill>
            <a:srgbClr val="2C1A0E"/>
          </a:solidFill>
          <a:ln w="12700">
            <a:solidFill>
              <a:srgbClr val="2C1A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00016" y="1024128"/>
            <a:ext cx="4123944" cy="3913632"/>
          </a:xfrm>
          <a:prstGeom prst="rect">
            <a:avLst/>
          </a:prstGeom>
          <a:solidFill>
            <a:srgbClr val="FFFFFF"/>
          </a:solidFill>
          <a:ln w="31750">
            <a:solidFill>
              <a:srgbClr val="2C1A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700016" y="1024128"/>
            <a:ext cx="4123944" cy="347472"/>
          </a:xfrm>
          <a:prstGeom prst="rect">
            <a:avLst/>
          </a:prstGeom>
          <a:solidFill>
            <a:srgbClr val="6B2D8B"/>
          </a:solidFill>
          <a:ln w="12700">
            <a:solidFill>
              <a:srgbClr val="2C1A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00016" y="1024128"/>
            <a:ext cx="4123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50" dirty="0">
                <a:solidFill>
                  <a:srgbClr val="FFFFFF"/>
                </a:solidFill>
                <a:latin typeface="Righteous" pitchFamily="34" charset="0"/>
                <a:ea typeface="Righteous" pitchFamily="34" charset="-122"/>
                <a:cs typeface="Righteous" pitchFamily="34" charset="-120"/>
              </a:rPr>
              <a:t>PETER BLAKE + JANN HAWORTH  ·  Sgt. Pepper's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791456" y="1426464"/>
            <a:ext cx="3959352" cy="3456432"/>
          </a:xfrm>
          <a:prstGeom prst="rect">
            <a:avLst/>
          </a:prstGeom>
          <a:noFill/>
          <a:ln/>
        </p:spPr>
        <p:txBody>
          <a:bodyPr wrap="square" lIns="63500" tIns="101600" rIns="101600" bIns="6350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C1A0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Sgt. Pepper's Lonely Hearts Club Band (1967) — Grammy: Best Album Cover, Graphic Arts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C1A0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88 life-sized cardboard cutouts — collage as philosophical statement about cultural equals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C1A0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Brought the visual language of psychedelia into every home that owned a record player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C1A0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MoMA permanent collection — the album cover legitimized as fine art object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C1A0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London to San Francisco to Tokyo: same visual conversation, three directions simultaneously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0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A8B8E"/>
          </a:solidFill>
          <a:ln w="12700">
            <a:solidFill>
              <a:srgbClr val="0A8B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47472" y="128016"/>
            <a:ext cx="8503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300" dirty="0">
                <a:solidFill>
                  <a:srgbClr val="0A8B8E"/>
                </a:solidFill>
                <a:latin typeface="Righteous" pitchFamily="34" charset="0"/>
                <a:ea typeface="Righteous" pitchFamily="34" charset="-122"/>
                <a:cs typeface="Righteous" pitchFamily="34" charset="-120"/>
              </a:rPr>
              <a:t>MUSIC  ·  JAPAN  ·  SPREAD 5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47472" y="384048"/>
            <a:ext cx="84764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2C1A0E"/>
                </a:solidFill>
                <a:latin typeface="Righteous" pitchFamily="34" charset="0"/>
                <a:ea typeface="Righteous" pitchFamily="34" charset="-122"/>
                <a:cs typeface="Righteous" pitchFamily="34" charset="-120"/>
              </a:rPr>
              <a:t>Kamekura + Yokoo: In Conversation With the West, Not Receiving It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20624" y="1097280"/>
            <a:ext cx="4123944" cy="3913632"/>
          </a:xfrm>
          <a:prstGeom prst="rect">
            <a:avLst/>
          </a:prstGeom>
          <a:solidFill>
            <a:srgbClr val="2C1A0E"/>
          </a:solidFill>
          <a:ln w="12700">
            <a:solidFill>
              <a:srgbClr val="2C1A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47472" y="1024128"/>
            <a:ext cx="4123944" cy="3913632"/>
          </a:xfrm>
          <a:prstGeom prst="rect">
            <a:avLst/>
          </a:prstGeom>
          <a:solidFill>
            <a:srgbClr val="FFFFFF"/>
          </a:solidFill>
          <a:ln w="31750">
            <a:solidFill>
              <a:srgbClr val="2C1A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47472" y="1024128"/>
            <a:ext cx="4123944" cy="347472"/>
          </a:xfrm>
          <a:prstGeom prst="rect">
            <a:avLst/>
          </a:prstGeom>
          <a:solidFill>
            <a:srgbClr val="0A8B8E"/>
          </a:solidFill>
          <a:ln w="12700">
            <a:solidFill>
              <a:srgbClr val="2C1A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47472" y="1024128"/>
            <a:ext cx="4123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50" dirty="0">
                <a:solidFill>
                  <a:srgbClr val="FFFFFF"/>
                </a:solidFill>
                <a:latin typeface="Righteous" pitchFamily="34" charset="0"/>
                <a:ea typeface="Righteous" pitchFamily="34" charset="-122"/>
                <a:cs typeface="Righteous" pitchFamily="34" charset="-120"/>
              </a:rPr>
              <a:t>YUSAKU KAMEKURA  ·  Announcement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38912" y="1426464"/>
            <a:ext cx="3959352" cy="3456432"/>
          </a:xfrm>
          <a:prstGeom prst="rect">
            <a:avLst/>
          </a:prstGeom>
          <a:noFill/>
          <a:ln/>
        </p:spPr>
        <p:txBody>
          <a:bodyPr wrap="square" lIns="63500" tIns="101600" rIns="101600" bIns="6350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C1A0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1964 Tokyo Olympics poster series — clean, confident, typographically rigorous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C1A0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First Olympic poster designer to use photography — technically unprecedented split-second sports photography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C1A0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Olympic rings in gold below red circle (sun/flag) on white — minimal, monumental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C1A0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MoMA permanent collection; Won Milan Prize for poster graphics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C1A0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Japan announcing its design intelligence to the world at the same moment London was doing the same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73168" y="1097280"/>
            <a:ext cx="4123944" cy="3913632"/>
          </a:xfrm>
          <a:prstGeom prst="rect">
            <a:avLst/>
          </a:prstGeom>
          <a:solidFill>
            <a:srgbClr val="2C1A0E"/>
          </a:solidFill>
          <a:ln w="12700">
            <a:solidFill>
              <a:srgbClr val="2C1A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00016" y="1024128"/>
            <a:ext cx="4123944" cy="3913632"/>
          </a:xfrm>
          <a:prstGeom prst="rect">
            <a:avLst/>
          </a:prstGeom>
          <a:solidFill>
            <a:srgbClr val="FFFFFF"/>
          </a:solidFill>
          <a:ln w="31750">
            <a:solidFill>
              <a:srgbClr val="2C1A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700016" y="1024128"/>
            <a:ext cx="4123944" cy="347472"/>
          </a:xfrm>
          <a:prstGeom prst="rect">
            <a:avLst/>
          </a:prstGeom>
          <a:solidFill>
            <a:srgbClr val="0A8B8E"/>
          </a:solidFill>
          <a:ln w="12700">
            <a:solidFill>
              <a:srgbClr val="2C1A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00016" y="1024128"/>
            <a:ext cx="4123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50" dirty="0">
                <a:solidFill>
                  <a:srgbClr val="FFFFFF"/>
                </a:solidFill>
                <a:latin typeface="Righteous" pitchFamily="34" charset="0"/>
                <a:ea typeface="Righteous" pitchFamily="34" charset="-122"/>
                <a:cs typeface="Righteous" pitchFamily="34" charset="-120"/>
              </a:rPr>
              <a:t>TADANORI YOKOO  ·  Conversation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791456" y="1426464"/>
            <a:ext cx="3959352" cy="3456432"/>
          </a:xfrm>
          <a:prstGeom prst="rect">
            <a:avLst/>
          </a:prstGeom>
          <a:noFill/>
          <a:ln/>
        </p:spPr>
        <p:txBody>
          <a:bodyPr wrap="square" lIns="63500" tIns="101600" rIns="101600" bIns="6350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C1A0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"Made in Japan, Tadanori Yokoo..." (1965) — MoMA; silkscreen layering woodblock, Pop Art, surrealism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C1A0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Theater posters at Sogetsu Art Center — shown at MoMA by 1968, before the Fillmore movement had peaked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C1A0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Not influenced by the West — in conversation with it, from a position of equal strength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C1A0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While Wilson and Moscoso cited ukiyo-e, Yokoo was doing something more layered and simultaneous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C1A0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single most important cross-regional figure in the entire project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0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6B2D8B"/>
          </a:solidFill>
          <a:ln w="12700">
            <a:solidFill>
              <a:srgbClr val="6B2D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47472" y="128016"/>
            <a:ext cx="8503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300" dirty="0">
                <a:solidFill>
                  <a:srgbClr val="6B2D8B"/>
                </a:solidFill>
                <a:latin typeface="Righteous" pitchFamily="34" charset="0"/>
                <a:ea typeface="Righteous" pitchFamily="34" charset="-122"/>
                <a:cs typeface="Righteous" pitchFamily="34" charset="-120"/>
              </a:rPr>
              <a:t>FASHION  ·  UNITED KINGDOM  ·  SPREAD 6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47472" y="384048"/>
            <a:ext cx="84764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2C1A0E"/>
                </a:solidFill>
                <a:latin typeface="Righteous" pitchFamily="34" charset="0"/>
                <a:ea typeface="Righteous" pitchFamily="34" charset="-122"/>
                <a:cs typeface="Righteous" pitchFamily="34" charset="-120"/>
              </a:rPr>
              <a:t>Carnaby Street to King's Road: Mod to Punk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20624" y="1097280"/>
            <a:ext cx="2706624" cy="3913632"/>
          </a:xfrm>
          <a:prstGeom prst="rect">
            <a:avLst/>
          </a:prstGeom>
          <a:solidFill>
            <a:srgbClr val="2C1A0E"/>
          </a:solidFill>
          <a:ln w="12700">
            <a:solidFill>
              <a:srgbClr val="2C1A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47472" y="1024128"/>
            <a:ext cx="2706624" cy="3913632"/>
          </a:xfrm>
          <a:prstGeom prst="rect">
            <a:avLst/>
          </a:prstGeom>
          <a:solidFill>
            <a:srgbClr val="FFFFFF"/>
          </a:solidFill>
          <a:ln w="31750">
            <a:solidFill>
              <a:srgbClr val="2C1A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47472" y="1024128"/>
            <a:ext cx="2706624" cy="347472"/>
          </a:xfrm>
          <a:prstGeom prst="rect">
            <a:avLst/>
          </a:prstGeom>
          <a:solidFill>
            <a:srgbClr val="6B2D8B"/>
          </a:solidFill>
          <a:ln w="12700">
            <a:solidFill>
              <a:srgbClr val="2C1A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47472" y="1024128"/>
            <a:ext cx="2706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50" dirty="0">
                <a:solidFill>
                  <a:srgbClr val="FFFFFF"/>
                </a:solidFill>
                <a:latin typeface="Righteous" pitchFamily="34" charset="0"/>
                <a:ea typeface="Righteous" pitchFamily="34" charset="-122"/>
                <a:cs typeface="Righteous" pitchFamily="34" charset="-120"/>
              </a:rPr>
              <a:t>BAILEY + SHRIMPTON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38912" y="1426464"/>
            <a:ext cx="2542032" cy="3456432"/>
          </a:xfrm>
          <a:prstGeom prst="rect">
            <a:avLst/>
          </a:prstGeom>
          <a:noFill/>
          <a:ln/>
        </p:spPr>
        <p:txBody>
          <a:bodyPr wrap="square" lIns="63500" tIns="101600" rIns="101600" bIns="6350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1A0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Co-creators of the mod visual language — fashion as graphic design system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1A0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"Young Idea" NYC shoot (1962) — reinvented fashion photography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1A0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Quant's clothes and Bailey's photos building each other's logic simultaneously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1A0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Box of Pin-Ups (1965) — the grammar of confrontation that punk radicalized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1A0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body as placard — the statement made before a word was spoken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10128" y="1097280"/>
            <a:ext cx="2706624" cy="3913632"/>
          </a:xfrm>
          <a:prstGeom prst="rect">
            <a:avLst/>
          </a:prstGeom>
          <a:solidFill>
            <a:srgbClr val="2C1A0E"/>
          </a:solidFill>
          <a:ln w="12700">
            <a:solidFill>
              <a:srgbClr val="2C1A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36976" y="1024128"/>
            <a:ext cx="2706624" cy="3913632"/>
          </a:xfrm>
          <a:prstGeom prst="rect">
            <a:avLst/>
          </a:prstGeom>
          <a:solidFill>
            <a:srgbClr val="FFFFFF"/>
          </a:solidFill>
          <a:ln w="31750">
            <a:solidFill>
              <a:srgbClr val="2C1A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36976" y="1024128"/>
            <a:ext cx="2706624" cy="347472"/>
          </a:xfrm>
          <a:prstGeom prst="rect">
            <a:avLst/>
          </a:prstGeom>
          <a:solidFill>
            <a:srgbClr val="6B2D8B"/>
          </a:solidFill>
          <a:ln w="12700">
            <a:solidFill>
              <a:srgbClr val="2C1A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36976" y="1024128"/>
            <a:ext cx="2706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50" dirty="0">
                <a:solidFill>
                  <a:srgbClr val="FFFFFF"/>
                </a:solidFill>
                <a:latin typeface="Righteous" pitchFamily="34" charset="0"/>
                <a:ea typeface="Righteous" pitchFamily="34" charset="-122"/>
                <a:cs typeface="Righteous" pitchFamily="34" charset="-120"/>
              </a:rPr>
              <a:t>MARY QUANT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328416" y="1426464"/>
            <a:ext cx="2542032" cy="3456432"/>
          </a:xfrm>
          <a:prstGeom prst="rect">
            <a:avLst/>
          </a:prstGeom>
          <a:noFill/>
          <a:ln/>
        </p:spPr>
        <p:txBody>
          <a:bodyPr wrap="square" lIns="63500" tIns="101600" rIns="101600" bIns="6350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1A0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Bazaar boutique (King's Road) — designed retail environment with house typeface + daisy logo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1A0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Miniskirt + geometric prints + PVC = coherent visual identity responding to Pop Art and Op Art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1A0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V&amp;A permanent collection — garments recognized as designed objects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1A0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Fashion in conversation with fine art movements — not separate from them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1A0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Geometric shapes, bold solid colors — clothing designed for freedom of movement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99632" y="1097280"/>
            <a:ext cx="2706624" cy="3913632"/>
          </a:xfrm>
          <a:prstGeom prst="rect">
            <a:avLst/>
          </a:prstGeom>
          <a:solidFill>
            <a:srgbClr val="2C1A0E"/>
          </a:solidFill>
          <a:ln w="12700">
            <a:solidFill>
              <a:srgbClr val="2C1A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126480" y="1024128"/>
            <a:ext cx="2706624" cy="3913632"/>
          </a:xfrm>
          <a:prstGeom prst="rect">
            <a:avLst/>
          </a:prstGeom>
          <a:solidFill>
            <a:srgbClr val="FFFFFF"/>
          </a:solidFill>
          <a:ln w="31750">
            <a:solidFill>
              <a:srgbClr val="2C1A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126480" y="1024128"/>
            <a:ext cx="2706624" cy="347472"/>
          </a:xfrm>
          <a:prstGeom prst="rect">
            <a:avLst/>
          </a:prstGeom>
          <a:solidFill>
            <a:srgbClr val="6B2D8B"/>
          </a:solidFill>
          <a:ln w="12700">
            <a:solidFill>
              <a:srgbClr val="2C1A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126480" y="1024128"/>
            <a:ext cx="2706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50" dirty="0">
                <a:solidFill>
                  <a:srgbClr val="FFFFFF"/>
                </a:solidFill>
                <a:latin typeface="Righteous" pitchFamily="34" charset="0"/>
                <a:ea typeface="Righteous" pitchFamily="34" charset="-122"/>
                <a:cs typeface="Righteous" pitchFamily="34" charset="-120"/>
              </a:rPr>
              <a:t>WESTWOOD / McLAREN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217920" y="1426464"/>
            <a:ext cx="2542032" cy="3456432"/>
          </a:xfrm>
          <a:prstGeom prst="rect">
            <a:avLst/>
          </a:prstGeom>
          <a:noFill/>
          <a:ln/>
        </p:spPr>
        <p:txBody>
          <a:bodyPr wrap="square" lIns="63500" tIns="101600" rIns="101600" bIns="6350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1A0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SEX boutique (430 King's Road) → Seditionaries — store as total graphic environment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1A0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Screen-printed T-shirts: wearable graphic design as political act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1A0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"Putting on a Seditionaries T-shirt was the same gesture as carrying a protest sign"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1A0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McLaren and Situationist theory — attacking power through its own visual symbols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1A0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Same strategy as Corita Kent in LA — different country, different decade, identical logic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0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D4622A"/>
          </a:solidFill>
          <a:ln w="12700">
            <a:solidFill>
              <a:srgbClr val="D46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47472" y="128016"/>
            <a:ext cx="8503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300" dirty="0">
                <a:solidFill>
                  <a:srgbClr val="D4622A"/>
                </a:solidFill>
                <a:latin typeface="Righteous" pitchFamily="34" charset="0"/>
                <a:ea typeface="Righteous" pitchFamily="34" charset="-122"/>
                <a:cs typeface="Righteous" pitchFamily="34" charset="-120"/>
              </a:rPr>
              <a:t>FASHION  ·  UNITED STATES  ·  SPREAD 7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47472" y="384048"/>
            <a:ext cx="84764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2C1A0E"/>
                </a:solidFill>
                <a:latin typeface="Righteous" pitchFamily="34" charset="0"/>
                <a:ea typeface="Righteous" pitchFamily="34" charset="-122"/>
                <a:cs typeface="Righteous" pitchFamily="34" charset="-120"/>
              </a:rPr>
              <a:t>Counterculture + Black Power: Clothing as a Designed Political System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20624" y="1097280"/>
            <a:ext cx="4123944" cy="3913632"/>
          </a:xfrm>
          <a:prstGeom prst="rect">
            <a:avLst/>
          </a:prstGeom>
          <a:solidFill>
            <a:srgbClr val="2C1A0E"/>
          </a:solidFill>
          <a:ln w="12700">
            <a:solidFill>
              <a:srgbClr val="2C1A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47472" y="1024128"/>
            <a:ext cx="4123944" cy="3913632"/>
          </a:xfrm>
          <a:prstGeom prst="rect">
            <a:avLst/>
          </a:prstGeom>
          <a:solidFill>
            <a:srgbClr val="FFFFFF"/>
          </a:solidFill>
          <a:ln w="31750">
            <a:solidFill>
              <a:srgbClr val="2C1A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47472" y="1024128"/>
            <a:ext cx="4123944" cy="347472"/>
          </a:xfrm>
          <a:prstGeom prst="rect">
            <a:avLst/>
          </a:prstGeom>
          <a:solidFill>
            <a:srgbClr val="D4622A"/>
          </a:solidFill>
          <a:ln w="12700">
            <a:solidFill>
              <a:srgbClr val="2C1A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47472" y="1024128"/>
            <a:ext cx="4123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50" dirty="0">
                <a:solidFill>
                  <a:srgbClr val="FFFFFF"/>
                </a:solidFill>
                <a:latin typeface="Righteous" pitchFamily="34" charset="0"/>
                <a:ea typeface="Righteous" pitchFamily="34" charset="-122"/>
                <a:cs typeface="Righteous" pitchFamily="34" charset="-120"/>
              </a:rPr>
              <a:t>COUNTERCULTURE FASHION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38912" y="1426464"/>
            <a:ext cx="3959352" cy="3456432"/>
          </a:xfrm>
          <a:prstGeom prst="rect">
            <a:avLst/>
          </a:prstGeom>
          <a:noFill/>
          <a:ln/>
        </p:spPr>
        <p:txBody>
          <a:bodyPr wrap="square" lIns="63500" tIns="101600" rIns="101600" bIns="6350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C1A0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People started dressing like the Fillmore posters looked — tie-dye, fringe, bright patterns, military surplus with patches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C1A0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Visual and musical language fully aligned — you could tell what someone listened to by how they dressed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C1A0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Same cultural urgency as the posters: clothing and graphic design speaking the same language simultaneously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C1A0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Music feeds Fashion: the sound produced the look; the look announced the allegiance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73168" y="1097280"/>
            <a:ext cx="4123944" cy="3913632"/>
          </a:xfrm>
          <a:prstGeom prst="rect">
            <a:avLst/>
          </a:prstGeom>
          <a:solidFill>
            <a:srgbClr val="2C1A0E"/>
          </a:solidFill>
          <a:ln w="12700">
            <a:solidFill>
              <a:srgbClr val="2C1A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00016" y="1024128"/>
            <a:ext cx="4123944" cy="3913632"/>
          </a:xfrm>
          <a:prstGeom prst="rect">
            <a:avLst/>
          </a:prstGeom>
          <a:solidFill>
            <a:srgbClr val="FFFFFF"/>
          </a:solidFill>
          <a:ln w="31750">
            <a:solidFill>
              <a:srgbClr val="2C1A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700016" y="1024128"/>
            <a:ext cx="4123944" cy="347472"/>
          </a:xfrm>
          <a:prstGeom prst="rect">
            <a:avLst/>
          </a:prstGeom>
          <a:solidFill>
            <a:srgbClr val="D4622A"/>
          </a:solidFill>
          <a:ln w="12700">
            <a:solidFill>
              <a:srgbClr val="2C1A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00016" y="1024128"/>
            <a:ext cx="4123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50" dirty="0">
                <a:solidFill>
                  <a:srgbClr val="FFFFFF"/>
                </a:solidFill>
                <a:latin typeface="Righteous" pitchFamily="34" charset="0"/>
                <a:ea typeface="Righteous" pitchFamily="34" charset="-122"/>
                <a:cs typeface="Righteous" pitchFamily="34" charset="-120"/>
              </a:rPr>
              <a:t>BLACK POWER VISUAL SYSTEM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791456" y="1426464"/>
            <a:ext cx="3959352" cy="3456432"/>
          </a:xfrm>
          <a:prstGeom prst="rect">
            <a:avLst/>
          </a:prstGeom>
          <a:noFill/>
          <a:ln/>
        </p:spPr>
        <p:txBody>
          <a:bodyPr wrap="square" lIns="63500" tIns="101600" rIns="101600" bIns="6350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C1A0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Dashiki, leather jacket, beret, raised fist — a deliberately designed visual system, not random style choices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C1A0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Legible across a room, across a street, across a news photograph — designed for recognition at distance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C1A0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Clothing as political statement communicating without words before the viewer could read a sign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C1A0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Fashion feeds Protest: once people understood clothing as visual statement, it was a short step to political weapon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0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A8B8E"/>
          </a:solidFill>
          <a:ln w="12700">
            <a:solidFill>
              <a:srgbClr val="0A8B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47472" y="128016"/>
            <a:ext cx="8503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300" dirty="0">
                <a:solidFill>
                  <a:srgbClr val="0A8B8E"/>
                </a:solidFill>
                <a:latin typeface="Righteous" pitchFamily="34" charset="0"/>
                <a:ea typeface="Righteous" pitchFamily="34" charset="-122"/>
                <a:cs typeface="Righteous" pitchFamily="34" charset="-120"/>
              </a:rPr>
              <a:t>FASHION  ·  JAPAN  ·  SPREAD 7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47472" y="384048"/>
            <a:ext cx="84764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2C1A0E"/>
                </a:solidFill>
                <a:latin typeface="Righteous" pitchFamily="34" charset="0"/>
                <a:ea typeface="Righteous" pitchFamily="34" charset="-122"/>
                <a:cs typeface="Righteous" pitchFamily="34" charset="-120"/>
              </a:rPr>
              <a:t>Miyake, Yamamoto + Kenzo: Japan Exporting Design Culture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47472" y="1005840"/>
            <a:ext cx="8476488" cy="310896"/>
          </a:xfrm>
          <a:prstGeom prst="rect">
            <a:avLst/>
          </a:prstGeom>
          <a:solidFill>
            <a:srgbClr val="E9C46A"/>
          </a:solidFill>
          <a:ln w="19050">
            <a:solidFill>
              <a:srgbClr val="2C1A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38912" y="1005840"/>
            <a:ext cx="8293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2C1A0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Japan: NOT a parallel to Western fashion — a counterpoint. Same forces, completely different visual outcome.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20624" y="1463040"/>
            <a:ext cx="2706624" cy="3547872"/>
          </a:xfrm>
          <a:prstGeom prst="rect">
            <a:avLst/>
          </a:prstGeom>
          <a:solidFill>
            <a:srgbClr val="2C1A0E"/>
          </a:solidFill>
          <a:ln w="12700">
            <a:solidFill>
              <a:srgbClr val="2C1A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47472" y="1389888"/>
            <a:ext cx="2706624" cy="3547872"/>
          </a:xfrm>
          <a:prstGeom prst="rect">
            <a:avLst/>
          </a:prstGeom>
          <a:solidFill>
            <a:srgbClr val="FFFFFF"/>
          </a:solidFill>
          <a:ln w="31750">
            <a:solidFill>
              <a:srgbClr val="2C1A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47472" y="1389888"/>
            <a:ext cx="2706624" cy="347472"/>
          </a:xfrm>
          <a:prstGeom prst="rect">
            <a:avLst/>
          </a:prstGeom>
          <a:solidFill>
            <a:srgbClr val="0A8B8E"/>
          </a:solidFill>
          <a:ln w="12700">
            <a:solidFill>
              <a:srgbClr val="2C1A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47472" y="1389888"/>
            <a:ext cx="2706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50" dirty="0">
                <a:solidFill>
                  <a:srgbClr val="FFFFFF"/>
                </a:solidFill>
                <a:latin typeface="Righteous" pitchFamily="34" charset="0"/>
                <a:ea typeface="Righteous" pitchFamily="34" charset="-122"/>
                <a:cs typeface="Righteous" pitchFamily="34" charset="-120"/>
              </a:rPr>
              <a:t>ISSEY MIYAKE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38912" y="1792224"/>
            <a:ext cx="2542032" cy="3090672"/>
          </a:xfrm>
          <a:prstGeom prst="rect">
            <a:avLst/>
          </a:prstGeom>
          <a:noFill/>
          <a:ln/>
        </p:spPr>
        <p:txBody>
          <a:bodyPr wrap="square" lIns="63500" tIns="101600" rIns="101600" bIns="6350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1A0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Construction and material over ornamentation — influenced by traditional Japanese wrapping and craft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1A0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Body as sculptural object, not a surface to decorate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1A0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Pleats Please: structure as the design argument itself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1A0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Survived Hiroshima as a child; fashion philosophy rooted in innovation and cultural unity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10128" y="1463040"/>
            <a:ext cx="2706624" cy="3547872"/>
          </a:xfrm>
          <a:prstGeom prst="rect">
            <a:avLst/>
          </a:prstGeom>
          <a:solidFill>
            <a:srgbClr val="2C1A0E"/>
          </a:solidFill>
          <a:ln w="12700">
            <a:solidFill>
              <a:srgbClr val="2C1A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36976" y="1389888"/>
            <a:ext cx="2706624" cy="3547872"/>
          </a:xfrm>
          <a:prstGeom prst="rect">
            <a:avLst/>
          </a:prstGeom>
          <a:solidFill>
            <a:srgbClr val="FFFFFF"/>
          </a:solidFill>
          <a:ln w="31750">
            <a:solidFill>
              <a:srgbClr val="2C1A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236976" y="1389888"/>
            <a:ext cx="2706624" cy="347472"/>
          </a:xfrm>
          <a:prstGeom prst="rect">
            <a:avLst/>
          </a:prstGeom>
          <a:solidFill>
            <a:srgbClr val="0A8B8E"/>
          </a:solidFill>
          <a:ln w="12700">
            <a:solidFill>
              <a:srgbClr val="2C1A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236976" y="1389888"/>
            <a:ext cx="2706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50" dirty="0">
                <a:solidFill>
                  <a:srgbClr val="FFFFFF"/>
                </a:solidFill>
                <a:latin typeface="Righteous" pitchFamily="34" charset="0"/>
                <a:ea typeface="Righteous" pitchFamily="34" charset="-122"/>
                <a:cs typeface="Righteous" pitchFamily="34" charset="-120"/>
              </a:rPr>
              <a:t>YOHJI YAMAMOTO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328416" y="1792224"/>
            <a:ext cx="2542032" cy="3090672"/>
          </a:xfrm>
          <a:prstGeom prst="rect">
            <a:avLst/>
          </a:prstGeom>
          <a:noFill/>
          <a:ln/>
        </p:spPr>
        <p:txBody>
          <a:bodyPr wrap="square" lIns="63500" tIns="101600" rIns="101600" bIns="6350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1A0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Anti-fashion as fashion: deconstructed, monochrome, oversized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1A0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Refusal of Western ideas of femininity — same refusal-as-statement logic as punk, different tools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1A0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Paris debut caused controversy — same disruption energy as Westwood, different country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1A0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Confrontation through design: the same posture, translated across cultures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99632" y="1463040"/>
            <a:ext cx="2706624" cy="3547872"/>
          </a:xfrm>
          <a:prstGeom prst="rect">
            <a:avLst/>
          </a:prstGeom>
          <a:solidFill>
            <a:srgbClr val="2C1A0E"/>
          </a:solidFill>
          <a:ln w="12700">
            <a:solidFill>
              <a:srgbClr val="2C1A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126480" y="1389888"/>
            <a:ext cx="2706624" cy="3547872"/>
          </a:xfrm>
          <a:prstGeom prst="rect">
            <a:avLst/>
          </a:prstGeom>
          <a:solidFill>
            <a:srgbClr val="FFFFFF"/>
          </a:solidFill>
          <a:ln w="31750">
            <a:solidFill>
              <a:srgbClr val="2C1A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126480" y="1389888"/>
            <a:ext cx="2706624" cy="347472"/>
          </a:xfrm>
          <a:prstGeom prst="rect">
            <a:avLst/>
          </a:prstGeom>
          <a:solidFill>
            <a:srgbClr val="0A8B8E"/>
          </a:solidFill>
          <a:ln w="12700">
            <a:solidFill>
              <a:srgbClr val="2C1A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126480" y="1389888"/>
            <a:ext cx="2706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50" dirty="0">
                <a:solidFill>
                  <a:srgbClr val="FFFFFF"/>
                </a:solidFill>
                <a:latin typeface="Righteous" pitchFamily="34" charset="0"/>
                <a:ea typeface="Righteous" pitchFamily="34" charset="-122"/>
                <a:cs typeface="Righteous" pitchFamily="34" charset="-120"/>
              </a:rPr>
              <a:t>KENZO TAKADA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217920" y="1792224"/>
            <a:ext cx="2542032" cy="3090672"/>
          </a:xfrm>
          <a:prstGeom prst="rect">
            <a:avLst/>
          </a:prstGeom>
          <a:noFill/>
          <a:ln/>
        </p:spPr>
        <p:txBody>
          <a:bodyPr wrap="square" lIns="63500" tIns="101600" rIns="101600" bIns="6350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1A0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JUNGLE JAP boutique, Paris (1970) — Japanese visual exuberance into Western fashion at its center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1A0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Arrived Paris 1965: Japan exporting design culture at the same moment Yokoo was at MoMA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1A0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Exuberant floral prints merging Japanese textile traditions with 1970s Western fashion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1A0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 conversation with the West from a position of equal strength — same posture as Yokoo in poster design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0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D4622A"/>
          </a:solidFill>
          <a:ln w="12700">
            <a:solidFill>
              <a:srgbClr val="D46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47472" y="128016"/>
            <a:ext cx="8503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300" dirty="0">
                <a:solidFill>
                  <a:srgbClr val="D4622A"/>
                </a:solidFill>
                <a:latin typeface="Righteous" pitchFamily="34" charset="0"/>
                <a:ea typeface="Righteous" pitchFamily="34" charset="-122"/>
                <a:cs typeface="Righteous" pitchFamily="34" charset="-120"/>
              </a:rPr>
              <a:t>PROTEST  ·  UNITED STATES  ·  SPREAD 8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47472" y="384048"/>
            <a:ext cx="84764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2C1A0E"/>
                </a:solidFill>
                <a:latin typeface="Righteous" pitchFamily="34" charset="0"/>
                <a:ea typeface="Righteous" pitchFamily="34" charset="-122"/>
                <a:cs typeface="Righteous" pitchFamily="34" charset="-120"/>
              </a:rPr>
              <a:t>Corita Kent, Civil Rights + Vietnam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20624" y="1097280"/>
            <a:ext cx="4123944" cy="3913632"/>
          </a:xfrm>
          <a:prstGeom prst="rect">
            <a:avLst/>
          </a:prstGeom>
          <a:solidFill>
            <a:srgbClr val="2C1A0E"/>
          </a:solidFill>
          <a:ln w="12700">
            <a:solidFill>
              <a:srgbClr val="2C1A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47472" y="1024128"/>
            <a:ext cx="4123944" cy="3913632"/>
          </a:xfrm>
          <a:prstGeom prst="rect">
            <a:avLst/>
          </a:prstGeom>
          <a:solidFill>
            <a:srgbClr val="FFFFFF"/>
          </a:solidFill>
          <a:ln w="31750">
            <a:solidFill>
              <a:srgbClr val="2C1A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47472" y="1024128"/>
            <a:ext cx="4123944" cy="347472"/>
          </a:xfrm>
          <a:prstGeom prst="rect">
            <a:avLst/>
          </a:prstGeom>
          <a:solidFill>
            <a:srgbClr val="D4622A"/>
          </a:solidFill>
          <a:ln w="12700">
            <a:solidFill>
              <a:srgbClr val="2C1A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47472" y="1024128"/>
            <a:ext cx="4123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50" dirty="0">
                <a:solidFill>
                  <a:srgbClr val="FFFFFF"/>
                </a:solidFill>
                <a:latin typeface="Righteous" pitchFamily="34" charset="0"/>
                <a:ea typeface="Righteous" pitchFamily="34" charset="-122"/>
                <a:cs typeface="Righteous" pitchFamily="34" charset="-120"/>
              </a:rPr>
              <a:t>CORITA KENT  ·  Los Angeles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38912" y="1426464"/>
            <a:ext cx="3959352" cy="3456432"/>
          </a:xfrm>
          <a:prstGeom prst="rect">
            <a:avLst/>
          </a:prstGeom>
          <a:noFill/>
          <a:ln/>
        </p:spPr>
        <p:txBody>
          <a:bodyPr wrap="square" lIns="63500" tIns="101600" rIns="101600" bIns="6350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C1A0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Catholic nun and printmaker, Immaculate Heart College, LA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C1A0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"Stop the Bombing" serigraph (1967) — direct Vietnam response; Hammer Museum (UCLA) collection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C1A0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Used corporate visual language — cereal boxes, supermarket signs — against corporate and military power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C1A0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Situationist strategy years before Jamie Reid applied the identical logic in London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C1A0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Silas Munro's Strikethrough framework maps her work: VOTE!, RESIST!, LOVE!, TEACH!, STRIKE!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73168" y="1097280"/>
            <a:ext cx="4123944" cy="3913632"/>
          </a:xfrm>
          <a:prstGeom prst="rect">
            <a:avLst/>
          </a:prstGeom>
          <a:solidFill>
            <a:srgbClr val="2C1A0E"/>
          </a:solidFill>
          <a:ln w="12700">
            <a:solidFill>
              <a:srgbClr val="2C1A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00016" y="1024128"/>
            <a:ext cx="4123944" cy="3913632"/>
          </a:xfrm>
          <a:prstGeom prst="rect">
            <a:avLst/>
          </a:prstGeom>
          <a:solidFill>
            <a:srgbClr val="FFFFFF"/>
          </a:solidFill>
          <a:ln w="31750">
            <a:solidFill>
              <a:srgbClr val="2C1A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700016" y="1024128"/>
            <a:ext cx="4123944" cy="347472"/>
          </a:xfrm>
          <a:prstGeom prst="rect">
            <a:avLst/>
          </a:prstGeom>
          <a:solidFill>
            <a:srgbClr val="D4622A"/>
          </a:solidFill>
          <a:ln w="12700">
            <a:solidFill>
              <a:srgbClr val="2C1A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00016" y="1024128"/>
            <a:ext cx="4123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50" dirty="0">
                <a:solidFill>
                  <a:srgbClr val="FFFFFF"/>
                </a:solidFill>
                <a:latin typeface="Righteous" pitchFamily="34" charset="0"/>
                <a:ea typeface="Righteous" pitchFamily="34" charset="-122"/>
                <a:cs typeface="Righteous" pitchFamily="34" charset="-120"/>
              </a:rPr>
              <a:t>CIVIL RIGHTS + VIETNAM MOVEMENT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791456" y="1426464"/>
            <a:ext cx="3959352" cy="3456432"/>
          </a:xfrm>
          <a:prstGeom prst="rect">
            <a:avLst/>
          </a:prstGeom>
          <a:noFill/>
          <a:ln/>
        </p:spPr>
        <p:txBody>
          <a:bodyPr wrap="square" lIns="63500" tIns="101600" rIns="101600" bIns="6350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C1A0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Silkscreen workshops: SCLC, SNCC, university art departments — same technology as the Fillmore concert posters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C1A0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Bold, legible, reproducible — designed to be read from the back of a crowd, not a gallery wall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C1A0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"U.S. Out of Vietnam Now!" (1967) — Whitney Museum permanent collection; mass-produced silkscreen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C1A0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Protest artists and Fillmore artists: same tools, same cultural urgency, the same two years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C1A0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Corita + the Fillmore Big Five producing in parallel, speaking the same visual language without coordination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0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6B2D8B"/>
          </a:solidFill>
          <a:ln w="12700">
            <a:solidFill>
              <a:srgbClr val="6B2D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47472" y="128016"/>
            <a:ext cx="8503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300" dirty="0">
                <a:solidFill>
                  <a:srgbClr val="6B2D8B"/>
                </a:solidFill>
                <a:latin typeface="Righteous" pitchFamily="34" charset="0"/>
                <a:ea typeface="Righteous" pitchFamily="34" charset="-122"/>
                <a:cs typeface="Righteous" pitchFamily="34" charset="-120"/>
              </a:rPr>
              <a:t>PROTEST  ·  UNITED KINGDOM  ·  SPREAD 9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47472" y="384048"/>
            <a:ext cx="84764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2C1A0E"/>
                </a:solidFill>
                <a:latin typeface="Righteous" pitchFamily="34" charset="0"/>
                <a:ea typeface="Righteous" pitchFamily="34" charset="-122"/>
                <a:cs typeface="Righteous" pitchFamily="34" charset="-120"/>
              </a:rPr>
              <a:t>Holtom, Reid + Westwood: The Grammar of Confrontation Weaponized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20624" y="1097280"/>
            <a:ext cx="2706624" cy="3913632"/>
          </a:xfrm>
          <a:prstGeom prst="rect">
            <a:avLst/>
          </a:prstGeom>
          <a:solidFill>
            <a:srgbClr val="2C1A0E"/>
          </a:solidFill>
          <a:ln w="12700">
            <a:solidFill>
              <a:srgbClr val="2C1A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47472" y="1024128"/>
            <a:ext cx="2706624" cy="3913632"/>
          </a:xfrm>
          <a:prstGeom prst="rect">
            <a:avLst/>
          </a:prstGeom>
          <a:solidFill>
            <a:srgbClr val="FFFFFF"/>
          </a:solidFill>
          <a:ln w="31750">
            <a:solidFill>
              <a:srgbClr val="2C1A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47472" y="1024128"/>
            <a:ext cx="2706624" cy="347472"/>
          </a:xfrm>
          <a:prstGeom prst="rect">
            <a:avLst/>
          </a:prstGeom>
          <a:solidFill>
            <a:srgbClr val="6B2D8B"/>
          </a:solidFill>
          <a:ln w="12700">
            <a:solidFill>
              <a:srgbClr val="2C1A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47472" y="1024128"/>
            <a:ext cx="2706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50" dirty="0">
                <a:solidFill>
                  <a:srgbClr val="FFFFFF"/>
                </a:solidFill>
                <a:latin typeface="Righteous" pitchFamily="34" charset="0"/>
                <a:ea typeface="Righteous" pitchFamily="34" charset="-122"/>
                <a:cs typeface="Righteous" pitchFamily="34" charset="-120"/>
              </a:rPr>
              <a:t>GERALD HOLTOM  ·  CND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38912" y="1426464"/>
            <a:ext cx="2542032" cy="3456432"/>
          </a:xfrm>
          <a:prstGeom prst="rect">
            <a:avLst/>
          </a:prstGeom>
          <a:noFill/>
          <a:ln/>
        </p:spPr>
        <p:txBody>
          <a:bodyPr wrap="square" lIns="63500" tIns="101600" rIns="101600" bIns="6350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1A0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CND peace symbol (1958): Aldermaston March — 500 cardboard lollipop signs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1A0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Semaphore N+D inside a circle; also references Goya's The Third of May 1808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1A0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Most globally recognized protest graphic ever designed — Royal College of Arts graduate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1A0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Design rigor in the service of radical politics — the CND symbol proves a designed object can outlast its era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10128" y="1097280"/>
            <a:ext cx="2706624" cy="3913632"/>
          </a:xfrm>
          <a:prstGeom prst="rect">
            <a:avLst/>
          </a:prstGeom>
          <a:solidFill>
            <a:srgbClr val="2C1A0E"/>
          </a:solidFill>
          <a:ln w="12700">
            <a:solidFill>
              <a:srgbClr val="2C1A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36976" y="1024128"/>
            <a:ext cx="2706624" cy="3913632"/>
          </a:xfrm>
          <a:prstGeom prst="rect">
            <a:avLst/>
          </a:prstGeom>
          <a:solidFill>
            <a:srgbClr val="FFFFFF"/>
          </a:solidFill>
          <a:ln w="31750">
            <a:solidFill>
              <a:srgbClr val="2C1A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36976" y="1024128"/>
            <a:ext cx="2706624" cy="347472"/>
          </a:xfrm>
          <a:prstGeom prst="rect">
            <a:avLst/>
          </a:prstGeom>
          <a:solidFill>
            <a:srgbClr val="6B2D8B"/>
          </a:solidFill>
          <a:ln w="12700">
            <a:solidFill>
              <a:srgbClr val="2C1A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36976" y="1024128"/>
            <a:ext cx="2706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50" dirty="0">
                <a:solidFill>
                  <a:srgbClr val="FFFFFF"/>
                </a:solidFill>
                <a:latin typeface="Righteous" pitchFamily="34" charset="0"/>
                <a:ea typeface="Righteous" pitchFamily="34" charset="-122"/>
                <a:cs typeface="Righteous" pitchFamily="34" charset="-120"/>
              </a:rPr>
              <a:t>JAMIE REID  ·  Sex Pistols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328416" y="1426464"/>
            <a:ext cx="2542032" cy="3456432"/>
          </a:xfrm>
          <a:prstGeom prst="rect">
            <a:avLst/>
          </a:prstGeom>
          <a:noFill/>
          <a:ln/>
        </p:spPr>
        <p:txBody>
          <a:bodyPr wrap="square" lIns="63500" tIns="101600" rIns="101600" bIns="6350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1A0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"God Save the Queen" (1977) — ransom-note lettering over Beaton portrait; banned by BBC; V&amp;A + MoMA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1A0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"Never Mind the Bollocks" — queasy yellow + Day-Glo pink; three mismatched fonts; typography as act of aggression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1A0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Croydon Art School; McLaren + Situationist theory — attacking power through its own visual symbols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1A0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Bailey's grammar of confrontation → Reid's weaponized version: same refusal, 14 years later, different tools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99632" y="1097280"/>
            <a:ext cx="2706624" cy="3913632"/>
          </a:xfrm>
          <a:prstGeom prst="rect">
            <a:avLst/>
          </a:prstGeom>
          <a:solidFill>
            <a:srgbClr val="2C1A0E"/>
          </a:solidFill>
          <a:ln w="12700">
            <a:solidFill>
              <a:srgbClr val="2C1A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126480" y="1024128"/>
            <a:ext cx="2706624" cy="3913632"/>
          </a:xfrm>
          <a:prstGeom prst="rect">
            <a:avLst/>
          </a:prstGeom>
          <a:solidFill>
            <a:srgbClr val="FFFFFF"/>
          </a:solidFill>
          <a:ln w="31750">
            <a:solidFill>
              <a:srgbClr val="2C1A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126480" y="1024128"/>
            <a:ext cx="2706624" cy="347472"/>
          </a:xfrm>
          <a:prstGeom prst="rect">
            <a:avLst/>
          </a:prstGeom>
          <a:solidFill>
            <a:srgbClr val="6B2D8B"/>
          </a:solidFill>
          <a:ln w="12700">
            <a:solidFill>
              <a:srgbClr val="2C1A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126480" y="1024128"/>
            <a:ext cx="2706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50" dirty="0">
                <a:solidFill>
                  <a:srgbClr val="FFFFFF"/>
                </a:solidFill>
                <a:latin typeface="Righteous" pitchFamily="34" charset="0"/>
                <a:ea typeface="Righteous" pitchFamily="34" charset="-122"/>
                <a:cs typeface="Righteous" pitchFamily="34" charset="-120"/>
              </a:rPr>
              <a:t>VIVIENNE WESTWOOD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217920" y="1426464"/>
            <a:ext cx="2542032" cy="3456432"/>
          </a:xfrm>
          <a:prstGeom prst="rect">
            <a:avLst/>
          </a:prstGeom>
          <a:noFill/>
          <a:ln/>
        </p:spPr>
        <p:txBody>
          <a:bodyPr wrap="square" lIns="63500" tIns="101600" rIns="101600" bIns="6350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1A0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SEX → Seditionaries, 430 King's Road — the boutique as a total graphic environment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1A0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Screen-printed T-shirts: Queen with safety pin — wearable graphic design as political act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1A0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Same Situationist logic as Corita Kent in LA — art school milieu, different country, identical strategy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1A0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Fashion meets protest: the body becomes the placard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0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A8B8E"/>
          </a:solidFill>
          <a:ln w="12700">
            <a:solidFill>
              <a:srgbClr val="0A8B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47472" y="128016"/>
            <a:ext cx="8503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300" dirty="0">
                <a:solidFill>
                  <a:srgbClr val="0A8B8E"/>
                </a:solidFill>
                <a:latin typeface="Righteous" pitchFamily="34" charset="0"/>
                <a:ea typeface="Righteous" pitchFamily="34" charset="-122"/>
                <a:cs typeface="Righteous" pitchFamily="34" charset="-120"/>
              </a:rPr>
              <a:t>PROTEST  ·  JAPAN  ·  SPREAD 9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47472" y="384048"/>
            <a:ext cx="84764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2C1A0E"/>
                </a:solidFill>
                <a:latin typeface="Righteous" pitchFamily="34" charset="0"/>
                <a:ea typeface="Righteous" pitchFamily="34" charset="-122"/>
                <a:cs typeface="Righteous" pitchFamily="34" charset="-120"/>
              </a:rPr>
              <a:t>Zengakuren + Yokoo: Same Urgency, Completely Different Visual Language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20624" y="1097280"/>
            <a:ext cx="4123944" cy="3913632"/>
          </a:xfrm>
          <a:prstGeom prst="rect">
            <a:avLst/>
          </a:prstGeom>
          <a:solidFill>
            <a:srgbClr val="2C1A0E"/>
          </a:solidFill>
          <a:ln w="12700">
            <a:solidFill>
              <a:srgbClr val="2C1A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47472" y="1024128"/>
            <a:ext cx="4123944" cy="3913632"/>
          </a:xfrm>
          <a:prstGeom prst="rect">
            <a:avLst/>
          </a:prstGeom>
          <a:solidFill>
            <a:srgbClr val="FFFFFF"/>
          </a:solidFill>
          <a:ln w="31750">
            <a:solidFill>
              <a:srgbClr val="2C1A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47472" y="1024128"/>
            <a:ext cx="4123944" cy="347472"/>
          </a:xfrm>
          <a:prstGeom prst="rect">
            <a:avLst/>
          </a:prstGeom>
          <a:solidFill>
            <a:srgbClr val="0A8B8E"/>
          </a:solidFill>
          <a:ln w="12700">
            <a:solidFill>
              <a:srgbClr val="2C1A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47472" y="1024128"/>
            <a:ext cx="4123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50" dirty="0">
                <a:solidFill>
                  <a:srgbClr val="FFFFFF"/>
                </a:solidFill>
                <a:latin typeface="Righteous" pitchFamily="34" charset="0"/>
                <a:ea typeface="Righteous" pitchFamily="34" charset="-122"/>
                <a:cs typeface="Righteous" pitchFamily="34" charset="-120"/>
              </a:rPr>
              <a:t>ZENGAKUREN  ·  Faction Helmet System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38912" y="1426464"/>
            <a:ext cx="3959352" cy="3456432"/>
          </a:xfrm>
          <a:prstGeom prst="rect">
            <a:avLst/>
          </a:prstGeom>
          <a:noFill/>
          <a:ln/>
        </p:spPr>
        <p:txBody>
          <a:bodyPr wrap="square" lIns="63500" tIns="101600" rIns="101600" bIns="6350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C1A0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Construction helmets painted in faction colors — each color = a specific political tendency; instant visual identification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C1A0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Visual coding system developed under conditions of street conflict — graphic design in its most immediate possible sense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C1A0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Communicating complex political information in a single glance — same function as a Fillmore poster at a distance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C1A0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1960 Anpo protests + 1968-69 university occupations: calligraphic banners; silkscreened pamphlets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C1A0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MIT Visualizing Cultures: "Tokyo 1960: Days of Rage and Grief" — full documentary photo archive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73168" y="1097280"/>
            <a:ext cx="4123944" cy="3913632"/>
          </a:xfrm>
          <a:prstGeom prst="rect">
            <a:avLst/>
          </a:prstGeom>
          <a:solidFill>
            <a:srgbClr val="2C1A0E"/>
          </a:solidFill>
          <a:ln w="12700">
            <a:solidFill>
              <a:srgbClr val="2C1A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00016" y="1024128"/>
            <a:ext cx="4123944" cy="3913632"/>
          </a:xfrm>
          <a:prstGeom prst="rect">
            <a:avLst/>
          </a:prstGeom>
          <a:solidFill>
            <a:srgbClr val="FFFFFF"/>
          </a:solidFill>
          <a:ln w="31750">
            <a:solidFill>
              <a:srgbClr val="2C1A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700016" y="1024128"/>
            <a:ext cx="4123944" cy="347472"/>
          </a:xfrm>
          <a:prstGeom prst="rect">
            <a:avLst/>
          </a:prstGeom>
          <a:solidFill>
            <a:srgbClr val="0A8B8E"/>
          </a:solidFill>
          <a:ln w="12700">
            <a:solidFill>
              <a:srgbClr val="2C1A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00016" y="1024128"/>
            <a:ext cx="4123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50" dirty="0">
                <a:solidFill>
                  <a:srgbClr val="FFFFFF"/>
                </a:solidFill>
                <a:latin typeface="Righteous" pitchFamily="34" charset="0"/>
                <a:ea typeface="Righteous" pitchFamily="34" charset="-122"/>
                <a:cs typeface="Righteous" pitchFamily="34" charset="-120"/>
              </a:rPr>
              <a:t>TADANORI YOKOO  ·  Political Art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791456" y="1426464"/>
            <a:ext cx="3959352" cy="3456432"/>
          </a:xfrm>
          <a:prstGeom prst="rect">
            <a:avLst/>
          </a:prstGeom>
          <a:noFill/>
          <a:ln/>
        </p:spPr>
        <p:txBody>
          <a:bodyPr wrap="square" lIns="63500" tIns="101600" rIns="101600" bIns="6350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C1A0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Avant-garde theater posters for Sogetsu Art Center — politically charged, surrealist, shown at MoMA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C1A0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Moves fluidly between commercial design and political engagement — same figure as in the music section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C1A0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Japan faced the same pressures as US/UK: nuclear fear, generational revolt, rapid economic transformation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C1A0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Visual output more inward, more layered, more coded — not less sophisticated, not less political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C1A0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contrast makes each version more visible: you understand what the US and UK were doing by seeing what Japan chose not to do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C1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274320" y="548640"/>
            <a:ext cx="4572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0" dirty="0">
                <a:solidFill>
                  <a:srgbClr val="D4622A">
                    <a:alpha val="28000"/>
                  </a:srgbClr>
                </a:solidFill>
                <a:latin typeface="Righteous" pitchFamily="34" charset="0"/>
                <a:ea typeface="Righteous" pitchFamily="34" charset="-122"/>
                <a:cs typeface="Righteous" pitchFamily="34" charset="-120"/>
              </a:rPr>
              <a:t>1967</a:t>
            </a:r>
            <a:endParaRPr lang="en-US" sz="13000" dirty="0"/>
          </a:p>
        </p:txBody>
      </p:sp>
      <p:sp>
        <p:nvSpPr>
          <p:cNvPr id="3" name="Text 1"/>
          <p:cNvSpPr/>
          <p:nvPr/>
        </p:nvSpPr>
        <p:spPr>
          <a:xfrm>
            <a:off x="320040" y="128016"/>
            <a:ext cx="8503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300" dirty="0">
                <a:solidFill>
                  <a:srgbClr val="E9C46A"/>
                </a:solidFill>
                <a:latin typeface="Righteous" pitchFamily="34" charset="0"/>
                <a:ea typeface="Righteous" pitchFamily="34" charset="-122"/>
                <a:cs typeface="Righteous" pitchFamily="34" charset="-120"/>
              </a:rPr>
              <a:t>✦  THE CONVERGENCE MOMENT  ·  SPREADS 10-11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20040" y="347472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E9C46A"/>
                </a:solidFill>
                <a:latin typeface="Righteous" pitchFamily="34" charset="0"/>
                <a:ea typeface="Righteous" pitchFamily="34" charset="-122"/>
                <a:cs typeface="Righteous" pitchFamily="34" charset="-120"/>
              </a:rPr>
              <a:t>1967 – 1968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969264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BF0D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"Design moves at the speed of urgency. 1967-68 was the most urgent two years of the 20th century in three countries at once."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93192" y="1554480"/>
            <a:ext cx="2715768" cy="3456432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1481328"/>
            <a:ext cx="2715768" cy="3456432"/>
          </a:xfrm>
          <a:prstGeom prst="rect">
            <a:avLst/>
          </a:prstGeom>
          <a:solidFill>
            <a:srgbClr val="FFFFFF"/>
          </a:solidFill>
          <a:ln w="31750">
            <a:solidFill>
              <a:srgbClr val="2C1A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20040" y="1481328"/>
            <a:ext cx="2715768" cy="347472"/>
          </a:xfrm>
          <a:prstGeom prst="rect">
            <a:avLst/>
          </a:prstGeom>
          <a:solidFill>
            <a:srgbClr val="D4622A"/>
          </a:solidFill>
          <a:ln w="12700">
            <a:solidFill>
              <a:srgbClr val="2C1A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0040" y="1481328"/>
            <a:ext cx="2715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50" dirty="0">
                <a:solidFill>
                  <a:srgbClr val="FFFFFF"/>
                </a:solidFill>
                <a:latin typeface="Righteous" pitchFamily="34" charset="0"/>
                <a:ea typeface="Righteous" pitchFamily="34" charset="-122"/>
                <a:cs typeface="Righteous" pitchFamily="34" charset="-120"/>
              </a:rPr>
              <a:t>UNITED STATES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11480" y="1883664"/>
            <a:ext cx="2551176" cy="2999232"/>
          </a:xfrm>
          <a:prstGeom prst="rect">
            <a:avLst/>
          </a:prstGeom>
          <a:noFill/>
          <a:ln/>
        </p:spPr>
        <p:txBody>
          <a:bodyPr wrap="square" lIns="63500" tIns="101600" rIns="101600" bIns="6350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C1A0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Summer of Love, San Francisco: music, fashion, and protest collide in one cultural event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C1A0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Fillmore + Avalon at peak output: Wilson, Moscoso, Griffin, Mouse &amp; Kelley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C1A0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Jim Marshall at Monterey Pop (June 1967): Hendrix burning guitar = mythology in real time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C1A0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Anti-Vietnam movement producing its most urgent graphic design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91840" y="1554480"/>
            <a:ext cx="2715768" cy="3456432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18688" y="1481328"/>
            <a:ext cx="2715768" cy="3456432"/>
          </a:xfrm>
          <a:prstGeom prst="rect">
            <a:avLst/>
          </a:prstGeom>
          <a:solidFill>
            <a:srgbClr val="FFFFFF"/>
          </a:solidFill>
          <a:ln w="31750">
            <a:solidFill>
              <a:srgbClr val="2C1A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18688" y="1481328"/>
            <a:ext cx="2715768" cy="347472"/>
          </a:xfrm>
          <a:prstGeom prst="rect">
            <a:avLst/>
          </a:prstGeom>
          <a:solidFill>
            <a:srgbClr val="6B2D8B"/>
          </a:solidFill>
          <a:ln w="12700">
            <a:solidFill>
              <a:srgbClr val="2C1A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218688" y="1481328"/>
            <a:ext cx="2715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50" dirty="0">
                <a:solidFill>
                  <a:srgbClr val="FFFFFF"/>
                </a:solidFill>
                <a:latin typeface="Righteous" pitchFamily="34" charset="0"/>
                <a:ea typeface="Righteous" pitchFamily="34" charset="-122"/>
                <a:cs typeface="Righteous" pitchFamily="34" charset="-120"/>
              </a:rPr>
              <a:t>UNITED KINGDOM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310128" y="1883664"/>
            <a:ext cx="2551176" cy="2999232"/>
          </a:xfrm>
          <a:prstGeom prst="rect">
            <a:avLst/>
          </a:prstGeom>
          <a:noFill/>
          <a:ln/>
        </p:spPr>
        <p:txBody>
          <a:bodyPr wrap="square" lIns="63500" tIns="101600" rIns="101600" bIns="6350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C1A0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Sgt. Pepper's released June 1967 — Peter Blake's cover in every home with a record player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C1A0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Psychedelic visual language moves from underground silkscreen to mainstream vinyl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C1A0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Seeds of punk being planted while Mod was at its visual peak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C1A0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Bailey's grammar of confrontation being absorbed and radicalized by a next generation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90488" y="1554480"/>
            <a:ext cx="2715768" cy="3456432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117336" y="1481328"/>
            <a:ext cx="2715768" cy="3456432"/>
          </a:xfrm>
          <a:prstGeom prst="rect">
            <a:avLst/>
          </a:prstGeom>
          <a:solidFill>
            <a:srgbClr val="FFFFFF"/>
          </a:solidFill>
          <a:ln w="31750">
            <a:solidFill>
              <a:srgbClr val="2C1A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117336" y="1481328"/>
            <a:ext cx="2715768" cy="347472"/>
          </a:xfrm>
          <a:prstGeom prst="rect">
            <a:avLst/>
          </a:prstGeom>
          <a:solidFill>
            <a:srgbClr val="0A8B8E"/>
          </a:solidFill>
          <a:ln w="12700">
            <a:solidFill>
              <a:srgbClr val="2C1A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117336" y="1481328"/>
            <a:ext cx="2715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50" dirty="0">
                <a:solidFill>
                  <a:srgbClr val="FFFFFF"/>
                </a:solidFill>
                <a:latin typeface="Righteous" pitchFamily="34" charset="0"/>
                <a:ea typeface="Righteous" pitchFamily="34" charset="-122"/>
                <a:cs typeface="Righteous" pitchFamily="34" charset="-120"/>
              </a:rPr>
              <a:t>JAPAN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208776" y="1883664"/>
            <a:ext cx="2551176" cy="2999232"/>
          </a:xfrm>
          <a:prstGeom prst="rect">
            <a:avLst/>
          </a:prstGeom>
          <a:noFill/>
          <a:ln/>
        </p:spPr>
        <p:txBody>
          <a:bodyPr wrap="square" lIns="63500" tIns="101600" rIns="101600" bIns="6350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C1A0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Zengakuren student movement at highest intensity — 1968-69 university occupations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C1A0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Tadanori Yokoo's work exhibited at MoMA — Japan announcing itself globally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C1A0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Kamekura's Olympics legacy: Japan established as serious international design force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C1A0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Same urgency as US/UK — louder in the street, quieter and more layered in the designed object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C1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0" y="457200"/>
            <a:ext cx="2743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0" dirty="0">
                <a:solidFill>
                  <a:srgbClr val="0A8B8E">
                    <a:alpha val="2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☮</a:t>
            </a:r>
            <a:endParaRPr lang="en-US" sz="14000" dirty="0"/>
          </a:p>
        </p:txBody>
      </p:sp>
      <p:sp>
        <p:nvSpPr>
          <p:cNvPr id="3" name="Text 1"/>
          <p:cNvSpPr/>
          <p:nvPr/>
        </p:nvSpPr>
        <p:spPr>
          <a:xfrm>
            <a:off x="320040" y="91440"/>
            <a:ext cx="8503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300" dirty="0">
                <a:solidFill>
                  <a:srgbClr val="E9C46A"/>
                </a:solidFill>
                <a:latin typeface="Righteous" pitchFamily="34" charset="0"/>
                <a:ea typeface="Righteous" pitchFamily="34" charset="-122"/>
                <a:cs typeface="Righteous" pitchFamily="34" charset="-120"/>
              </a:rPr>
              <a:t>✦  CONCLUSION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20040" y="310896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FBF0D8"/>
                </a:solidFill>
                <a:latin typeface="Righteous" pitchFamily="34" charset="0"/>
                <a:ea typeface="Righteous" pitchFamily="34" charset="-122"/>
                <a:cs typeface="Righteous" pitchFamily="34" charset="-120"/>
              </a:rPr>
              <a:t>THE WEB IS NOT A METAPHOR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93192" y="1115568"/>
            <a:ext cx="4133088" cy="1719072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042416"/>
            <a:ext cx="4133088" cy="1719072"/>
          </a:xfrm>
          <a:prstGeom prst="rect">
            <a:avLst/>
          </a:prstGeom>
          <a:solidFill>
            <a:srgbClr val="FFFFFF"/>
          </a:solidFill>
          <a:ln w="31750">
            <a:solidFill>
              <a:srgbClr val="2C1A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1042416"/>
            <a:ext cx="4133088" cy="310896"/>
          </a:xfrm>
          <a:prstGeom prst="rect">
            <a:avLst/>
          </a:prstGeom>
          <a:solidFill>
            <a:srgbClr val="D4622A"/>
          </a:solidFill>
          <a:ln w="12700">
            <a:solidFill>
              <a:srgbClr val="2C1A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0040" y="1042416"/>
            <a:ext cx="4133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50" dirty="0">
                <a:solidFill>
                  <a:srgbClr val="FFFFFF"/>
                </a:solidFill>
                <a:latin typeface="Righteous" pitchFamily="34" charset="0"/>
                <a:ea typeface="Righteous" pitchFamily="34" charset="-122"/>
                <a:cs typeface="Righteous" pitchFamily="34" charset="-120"/>
              </a:rPr>
              <a:t>SILKSCREEN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11480" y="1389888"/>
            <a:ext cx="3968496" cy="1280160"/>
          </a:xfrm>
          <a:prstGeom prst="rect">
            <a:avLst/>
          </a:prstGeom>
          <a:noFill/>
          <a:ln/>
        </p:spPr>
        <p:txBody>
          <a:bodyPr wrap="square" lIns="63500" tIns="101600" rIns="101600" bIns="6350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2C1A0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US concert posters, UK punk T-shirts, Japan protest pamphlets. One process. Three revolutions. The tool of people who needed to move at the speed of urgency.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54880" y="1115568"/>
            <a:ext cx="4133088" cy="1719072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681728" y="1042416"/>
            <a:ext cx="4133088" cy="1719072"/>
          </a:xfrm>
          <a:prstGeom prst="rect">
            <a:avLst/>
          </a:prstGeom>
          <a:solidFill>
            <a:srgbClr val="FFFFFF"/>
          </a:solidFill>
          <a:ln w="31750">
            <a:solidFill>
              <a:srgbClr val="2C1A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681728" y="1042416"/>
            <a:ext cx="4133088" cy="310896"/>
          </a:xfrm>
          <a:prstGeom prst="rect">
            <a:avLst/>
          </a:prstGeom>
          <a:solidFill>
            <a:srgbClr val="6B2D8B"/>
          </a:solidFill>
          <a:ln w="12700">
            <a:solidFill>
              <a:srgbClr val="2C1A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681728" y="1042416"/>
            <a:ext cx="4133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50" dirty="0">
                <a:solidFill>
                  <a:srgbClr val="FFFFFF"/>
                </a:solidFill>
                <a:latin typeface="Righteous" pitchFamily="34" charset="0"/>
                <a:ea typeface="Righteous" pitchFamily="34" charset="-122"/>
                <a:cs typeface="Righteous" pitchFamily="34" charset="-120"/>
              </a:rPr>
              <a:t>BAILEY  →  REID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773168" y="1389888"/>
            <a:ext cx="3968496" cy="1280160"/>
          </a:xfrm>
          <a:prstGeom prst="rect">
            <a:avLst/>
          </a:prstGeom>
          <a:noFill/>
          <a:ln/>
        </p:spPr>
        <p:txBody>
          <a:bodyPr wrap="square" lIns="63500" tIns="101600" rIns="101600" bIns="6350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2C1A0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Bailey built the visual grammar of confrontation and refusal. Reid weaponized it for punk. Same logic. Different decade. The line is direct.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93192" y="2953512"/>
            <a:ext cx="4133088" cy="1719072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20040" y="2880360"/>
            <a:ext cx="4133088" cy="1719072"/>
          </a:xfrm>
          <a:prstGeom prst="rect">
            <a:avLst/>
          </a:prstGeom>
          <a:solidFill>
            <a:srgbClr val="FFFFFF"/>
          </a:solidFill>
          <a:ln w="31750">
            <a:solidFill>
              <a:srgbClr val="2C1A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20040" y="2880360"/>
            <a:ext cx="4133088" cy="310896"/>
          </a:xfrm>
          <a:prstGeom prst="rect">
            <a:avLst/>
          </a:prstGeom>
          <a:solidFill>
            <a:srgbClr val="D4622A"/>
          </a:solidFill>
          <a:ln w="12700">
            <a:solidFill>
              <a:srgbClr val="2C1A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20040" y="2880360"/>
            <a:ext cx="4133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50" dirty="0">
                <a:solidFill>
                  <a:srgbClr val="FFFFFF"/>
                </a:solidFill>
                <a:latin typeface="Righteous" pitchFamily="34" charset="0"/>
                <a:ea typeface="Righteous" pitchFamily="34" charset="-122"/>
                <a:cs typeface="Righteous" pitchFamily="34" charset="-120"/>
              </a:rPr>
              <a:t>MARSHALL + FILLMORE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11480" y="3227832"/>
            <a:ext cx="3968496" cy="1280160"/>
          </a:xfrm>
          <a:prstGeom prst="rect">
            <a:avLst/>
          </a:prstGeom>
          <a:noFill/>
          <a:ln/>
        </p:spPr>
        <p:txBody>
          <a:bodyPr wrap="square" lIns="63500" tIns="101600" rIns="101600" bIns="6350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2C1A0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Poster artists made the pre-event promise. Marshall created the post-event mythology. Both built the same cultural archive from opposite ends of the timeline.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54880" y="2953512"/>
            <a:ext cx="4133088" cy="1719072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681728" y="2880360"/>
            <a:ext cx="4133088" cy="1719072"/>
          </a:xfrm>
          <a:prstGeom prst="rect">
            <a:avLst/>
          </a:prstGeom>
          <a:solidFill>
            <a:srgbClr val="FFFFFF"/>
          </a:solidFill>
          <a:ln w="31750">
            <a:solidFill>
              <a:srgbClr val="2C1A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681728" y="2880360"/>
            <a:ext cx="4133088" cy="310896"/>
          </a:xfrm>
          <a:prstGeom prst="rect">
            <a:avLst/>
          </a:prstGeom>
          <a:solidFill>
            <a:srgbClr val="0A8B8E"/>
          </a:solidFill>
          <a:ln w="12700">
            <a:solidFill>
              <a:srgbClr val="2C1A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681728" y="2880360"/>
            <a:ext cx="4133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50" dirty="0">
                <a:solidFill>
                  <a:srgbClr val="FFFFFF"/>
                </a:solidFill>
                <a:latin typeface="Righteous" pitchFamily="34" charset="0"/>
                <a:ea typeface="Righteous" pitchFamily="34" charset="-122"/>
                <a:cs typeface="Righteous" pitchFamily="34" charset="-120"/>
              </a:rPr>
              <a:t>YOKOO AS BRIDGE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773168" y="3227832"/>
            <a:ext cx="3968496" cy="1280160"/>
          </a:xfrm>
          <a:prstGeom prst="rect">
            <a:avLst/>
          </a:prstGeom>
          <a:noFill/>
          <a:ln/>
        </p:spPr>
        <p:txBody>
          <a:bodyPr wrap="square" lIns="63500" tIns="101600" rIns="101600" bIns="6350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2C1A0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Yokoo at MoMA in 1968 — before the Fillmore peaked. Japan was not absorbing Western influence. It was equal and simultaneous. The mirror that clarifies the US and UK.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0040" y="4681728"/>
            <a:ext cx="8503920" cy="0"/>
          </a:xfrm>
          <a:prstGeom prst="line">
            <a:avLst/>
          </a:prstGeom>
          <a:noFill/>
          <a:ln w="12700">
            <a:solidFill>
              <a:srgbClr val="E9C4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20040" y="4736592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E9C46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Music told you how to dress. Fashion told you what you stood for. Protest told you what to fight. Design is how all three talked to each other.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2232</TotalTime>
  <Words>2687</Words>
  <Application>Microsoft Macintosh PowerPoint</Application>
  <PresentationFormat>On-screen Show (16:9)</PresentationFormat>
  <Paragraphs>237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AHJ BATAVIA</vt:lpstr>
      <vt:lpstr>Arial</vt:lpstr>
      <vt:lpstr>Nunito</vt:lpstr>
      <vt:lpstr>Righteous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Graphic Design as Connective Tissue</dc:title>
  <dc:subject>PptxGenJS Presentation</dc:subject>
  <dc:creator>Devon Adams</dc:creator>
  <cp:lastModifiedBy>Devon Christopher Adams</cp:lastModifiedBy>
  <cp:revision>2</cp:revision>
  <dcterms:created xsi:type="dcterms:W3CDTF">2026-04-21T13:17:47Z</dcterms:created>
  <dcterms:modified xsi:type="dcterms:W3CDTF">2026-04-23T02:46:25Z</dcterms:modified>
</cp:coreProperties>
</file>